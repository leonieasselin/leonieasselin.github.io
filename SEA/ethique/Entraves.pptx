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5143500" type="screen16x9"/>
  <p:notesSz cx="6858000" cy="9144000"/>
  <p:embeddedFontLst>
    <p:embeddedFont>
      <p:font typeface="Economica" panose="020B0604020202020204" charset="0"/>
      <p:regular r:id="rId58"/>
      <p:bold r:id="rId59"/>
      <p:italic r:id="rId60"/>
      <p:boldItalic r:id="rId61"/>
    </p:embeddedFont>
    <p:embeddedFont>
      <p:font typeface="Montserrat" panose="00000500000000000000" pitchFamily="2" charset="0"/>
      <p:regular r:id="rId62"/>
      <p:bold r:id="rId63"/>
      <p:italic r:id="rId64"/>
      <p:boldItalic r:id="rId65"/>
    </p:embeddedFont>
    <p:embeddedFont>
      <p:font typeface="Nunito" pitchFamily="2" charset="0"/>
      <p:regular r:id="rId66"/>
      <p:bold r:id="rId67"/>
      <p:italic r:id="rId68"/>
      <p:boldItalic r:id="rId69"/>
    </p:embeddedFont>
    <p:embeddedFont>
      <p:font typeface="Open Sans" panose="020B0606030504020204" pitchFamily="3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7FF399-5DE0-473E-9A7D-34511730C9C1}">
  <a:tblStyle styleId="{9A7FF399-5DE0-473E-9A7D-34511730C9C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00c0e42880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00c0e42880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00c0e42880_0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00c0e42880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00c0e42880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00c0e42880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00c0e42880_0_3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00c0e42880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00c0e42880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00c0e42880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0476c516d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0476c516d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00c0e42880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00c0e42880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00c0e42880_0_3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00c0e42880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00c0e42880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00c0e42880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8b1a48e5d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8b1a48e5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0476c516d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0476c516d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8b1a48e5db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8b1a48e5d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8b1a48e5db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8b1a48e5d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d35c66bb24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d35c66bb24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d35c66bb24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d35c66bb24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d35c66bb24_1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d35c66bb24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d35c66bb24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d35c66bb24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d35c66bb24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d35c66bb24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d35c66bb24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d35c66bb24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d35c66bb24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d35c66bb24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0476c516d1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0476c516d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0476c516d1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0476c516d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d35c66bb24_1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d35c66bb24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d35c66bb24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d35c66bb24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d35c66bb24_1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d35c66bb24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d35c66bb24_1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d35c66bb24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d35c66bb24_1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d35c66bb24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0476c516d1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0476c516d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f99acbc2c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f99acbc2c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f99acbc2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f99acbc2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d35c66bb2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d35c66bb2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f99acbc2c9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f99acbc2c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f99acbc2c9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f99acbc2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097475250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097475250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097475250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097475250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f99acbc2c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f99acbc2c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f99acbc2c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f99acbc2c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097475250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097475250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f99acbc2c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f99acbc2c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f99acbc2c9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f99acbc2c9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0974752508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0974752508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f99acbc2c9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f99acbc2c9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f99acbc2c9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99acbc2c9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0974752508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097475250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974752508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97475250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f99acbc2c9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f99acbc2c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99acbc2c9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f99acbc2c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0974752508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097475250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99acbc2c9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99acbc2c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f99acbc2c9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f99acbc2c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f99acbc2c9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f99acbc2c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09747525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09747525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0974752508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097475250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0974752508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0974752508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0974752508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0974752508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CA"/>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fr-CA"/>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hyperlink" Target="https://youtu.be/5mMifKmslC4?feature=shared" TargetMode="External"/><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Pièges de la pensée</a:t>
            </a:r>
            <a:endParaRPr>
              <a:latin typeface="Open Sans"/>
              <a:ea typeface="Open Sans"/>
              <a:cs typeface="Open Sans"/>
              <a:sym typeface="Open Sans"/>
            </a:endParaRPr>
          </a:p>
        </p:txBody>
      </p:sp>
      <p:sp>
        <p:nvSpPr>
          <p:cNvPr id="63" name="Google Shape;63;p13"/>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latin typeface="Open Sans"/>
                <a:ea typeface="Open Sans"/>
                <a:cs typeface="Open Sans"/>
                <a:sym typeface="Open Sans"/>
              </a:rPr>
              <a:t>Définition</a:t>
            </a:r>
            <a:endParaRPr>
              <a:latin typeface="Open Sans"/>
              <a:ea typeface="Open Sans"/>
              <a:cs typeface="Open Sans"/>
              <a:sym typeface="Open Sans"/>
            </a:endParaRPr>
          </a:p>
        </p:txBody>
      </p:sp>
      <p:sp>
        <p:nvSpPr>
          <p:cNvPr id="69" name="Google Shape;69;p14"/>
          <p:cNvSpPr txBox="1">
            <a:spLocks noGrp="1"/>
          </p:cNvSpPr>
          <p:nvPr>
            <p:ph type="body" idx="1"/>
          </p:nvPr>
        </p:nvSpPr>
        <p:spPr>
          <a:xfrm>
            <a:off x="311700" y="1225225"/>
            <a:ext cx="8520600" cy="36999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fr-CA"/>
              <a:t>Ce sont des </a:t>
            </a:r>
            <a:r>
              <a:rPr lang="fr-CA">
                <a:highlight>
                  <a:srgbClr val="00FF00"/>
                </a:highlight>
              </a:rPr>
              <a:t>raisonnements erronés</a:t>
            </a:r>
            <a:r>
              <a:rPr lang="fr-CA"/>
              <a:t> (inexacts, trompeurs, imprécis), mais </a:t>
            </a:r>
            <a:r>
              <a:rPr lang="fr-CA">
                <a:highlight>
                  <a:srgbClr val="00FF00"/>
                </a:highlight>
              </a:rPr>
              <a:t>qui semblent valides</a:t>
            </a:r>
            <a:r>
              <a:rPr lang="fr-CA"/>
              <a:t>. </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L’erreur de raisonnement peut être fait de façon </a:t>
            </a:r>
            <a:endParaRPr/>
          </a:p>
          <a:p>
            <a:pPr marL="457200" lvl="0" indent="-342900" algn="l" rtl="0">
              <a:spcBef>
                <a:spcPts val="0"/>
              </a:spcBef>
              <a:spcAft>
                <a:spcPts val="0"/>
              </a:spcAft>
              <a:buSzPts val="1800"/>
              <a:buChar char="●"/>
            </a:pPr>
            <a:r>
              <a:rPr lang="fr-CA"/>
              <a:t>Involontaire = paralogisme</a:t>
            </a:r>
            <a:endParaRPr/>
          </a:p>
          <a:p>
            <a:pPr marL="457200" lvl="0" indent="-342900" algn="l" rtl="0">
              <a:spcBef>
                <a:spcPts val="0"/>
              </a:spcBef>
              <a:spcAft>
                <a:spcPts val="0"/>
              </a:spcAft>
              <a:buSzPts val="1800"/>
              <a:buChar char="●"/>
            </a:pPr>
            <a:r>
              <a:rPr lang="fr-CA"/>
              <a:t>Volontaire = Sophisme (pour convaincre dans un argument, un débat)</a:t>
            </a:r>
            <a:endParaRPr/>
          </a:p>
          <a:p>
            <a:pPr marL="914400" lvl="0" indent="0" algn="l" rtl="0">
              <a:spcBef>
                <a:spcPts val="1200"/>
              </a:spcBef>
              <a:spcAft>
                <a:spcPts val="0"/>
              </a:spcAft>
              <a:buNone/>
            </a:pPr>
            <a:endParaRPr/>
          </a:p>
          <a:p>
            <a:pPr marL="457200" lvl="0" indent="-342900" algn="l" rtl="0">
              <a:spcBef>
                <a:spcPts val="1200"/>
              </a:spcBef>
              <a:spcAft>
                <a:spcPts val="0"/>
              </a:spcAft>
              <a:buSzPts val="1800"/>
              <a:buChar char="-"/>
            </a:pPr>
            <a:r>
              <a:rPr lang="fr-CA"/>
              <a:t>Il y en a </a:t>
            </a:r>
            <a:r>
              <a:rPr lang="fr-CA">
                <a:highlight>
                  <a:srgbClr val="00FF00"/>
                </a:highlight>
              </a:rPr>
              <a:t>18</a:t>
            </a:r>
            <a:endParaRPr>
              <a:highlight>
                <a:srgbClr val="00FF00"/>
              </a:highlight>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latin typeface="Open Sans"/>
                <a:ea typeface="Open Sans"/>
                <a:cs typeface="Open Sans"/>
                <a:sym typeface="Open Sans"/>
              </a:rPr>
              <a:t>Les 18 erreurs de raisonnement</a:t>
            </a:r>
            <a:endParaRPr>
              <a:latin typeface="Open Sans"/>
              <a:ea typeface="Open Sans"/>
              <a:cs typeface="Open Sans"/>
              <a:sym typeface="Open Sans"/>
            </a:endParaRPr>
          </a:p>
        </p:txBody>
      </p:sp>
      <p:sp>
        <p:nvSpPr>
          <p:cNvPr id="75" name="Google Shape;75;p1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AutoNum type="arabicPeriod"/>
            </a:pPr>
            <a:r>
              <a:rPr lang="fr-CA"/>
              <a:t>Généralisation abusive</a:t>
            </a:r>
            <a:endParaRPr/>
          </a:p>
          <a:p>
            <a:pPr marL="457200" lvl="0" indent="-317500" algn="l" rtl="0">
              <a:lnSpc>
                <a:spcPct val="150000"/>
              </a:lnSpc>
              <a:spcBef>
                <a:spcPts val="0"/>
              </a:spcBef>
              <a:spcAft>
                <a:spcPts val="0"/>
              </a:spcAft>
              <a:buSzPts val="1400"/>
              <a:buAutoNum type="arabicPeriod"/>
            </a:pPr>
            <a:r>
              <a:rPr lang="fr-CA"/>
              <a:t>Appel à l’ignorance</a:t>
            </a:r>
            <a:endParaRPr/>
          </a:p>
          <a:p>
            <a:pPr marL="457200" lvl="0" indent="-317500" algn="l" rtl="0">
              <a:lnSpc>
                <a:spcPct val="150000"/>
              </a:lnSpc>
              <a:spcBef>
                <a:spcPts val="0"/>
              </a:spcBef>
              <a:spcAft>
                <a:spcPts val="0"/>
              </a:spcAft>
              <a:buSzPts val="1400"/>
              <a:buAutoNum type="arabicPeriod"/>
            </a:pPr>
            <a:r>
              <a:rPr lang="fr-CA"/>
              <a:t>Attaque personnelle</a:t>
            </a:r>
            <a:endParaRPr/>
          </a:p>
          <a:p>
            <a:pPr marL="457200" lvl="0" indent="-317500" algn="l" rtl="0">
              <a:lnSpc>
                <a:spcPct val="150000"/>
              </a:lnSpc>
              <a:spcBef>
                <a:spcPts val="0"/>
              </a:spcBef>
              <a:spcAft>
                <a:spcPts val="0"/>
              </a:spcAft>
              <a:buSzPts val="1400"/>
              <a:buAutoNum type="arabicPeriod"/>
            </a:pPr>
            <a:r>
              <a:rPr lang="fr-CA"/>
              <a:t>Appel à la popularité</a:t>
            </a:r>
            <a:endParaRPr/>
          </a:p>
          <a:p>
            <a:pPr marL="457200" lvl="0" indent="-317500" algn="l" rtl="0">
              <a:lnSpc>
                <a:spcPct val="150000"/>
              </a:lnSpc>
              <a:spcBef>
                <a:spcPts val="0"/>
              </a:spcBef>
              <a:spcAft>
                <a:spcPts val="0"/>
              </a:spcAft>
              <a:buSzPts val="1400"/>
              <a:buAutoNum type="arabicPeriod"/>
            </a:pPr>
            <a:r>
              <a:rPr lang="fr-CA"/>
              <a:t>Appel au clan</a:t>
            </a:r>
            <a:endParaRPr/>
          </a:p>
          <a:p>
            <a:pPr marL="457200" lvl="0" indent="-317500" algn="l" rtl="0">
              <a:lnSpc>
                <a:spcPct val="150000"/>
              </a:lnSpc>
              <a:spcBef>
                <a:spcPts val="0"/>
              </a:spcBef>
              <a:spcAft>
                <a:spcPts val="0"/>
              </a:spcAft>
              <a:buSzPts val="1400"/>
              <a:buAutoNum type="arabicPeriod"/>
            </a:pPr>
            <a:r>
              <a:rPr lang="fr-CA"/>
              <a:t>Argument d’autorité</a:t>
            </a:r>
            <a:endParaRPr/>
          </a:p>
          <a:p>
            <a:pPr marL="457200" lvl="0" indent="-317500" algn="l" rtl="0">
              <a:lnSpc>
                <a:spcPct val="150000"/>
              </a:lnSpc>
              <a:spcBef>
                <a:spcPts val="0"/>
              </a:spcBef>
              <a:spcAft>
                <a:spcPts val="0"/>
              </a:spcAft>
              <a:buSzPts val="1400"/>
              <a:buAutoNum type="arabicPeriod"/>
            </a:pPr>
            <a:r>
              <a:rPr lang="fr-CA"/>
              <a:t>Appel au stéréotype (appel au préjugé)</a:t>
            </a:r>
            <a:endParaRPr/>
          </a:p>
          <a:p>
            <a:pPr marL="457200" lvl="0" indent="-317500" algn="l" rtl="0">
              <a:lnSpc>
                <a:spcPct val="150000"/>
              </a:lnSpc>
              <a:spcBef>
                <a:spcPts val="0"/>
              </a:spcBef>
              <a:spcAft>
                <a:spcPts val="0"/>
              </a:spcAft>
              <a:buSzPts val="1400"/>
              <a:buAutoNum type="arabicPeriod"/>
            </a:pPr>
            <a:r>
              <a:rPr lang="fr-CA"/>
              <a:t>Appel à la tradition</a:t>
            </a:r>
            <a:endParaRPr/>
          </a:p>
          <a:p>
            <a:pPr marL="457200" lvl="0" indent="-317500" algn="l" rtl="0">
              <a:lnSpc>
                <a:spcPct val="150000"/>
              </a:lnSpc>
              <a:spcBef>
                <a:spcPts val="0"/>
              </a:spcBef>
              <a:spcAft>
                <a:spcPts val="0"/>
              </a:spcAft>
              <a:buSzPts val="1400"/>
              <a:buAutoNum type="arabicPeriod"/>
            </a:pPr>
            <a:r>
              <a:rPr lang="fr-CA"/>
              <a:t>Appel à la nouveauté (ou à la modernité)</a:t>
            </a:r>
            <a:endParaRPr/>
          </a:p>
        </p:txBody>
      </p:sp>
      <p:sp>
        <p:nvSpPr>
          <p:cNvPr id="76" name="Google Shape;76;p1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fr-CA"/>
              <a:t>10. Double faute</a:t>
            </a:r>
            <a:endParaRPr/>
          </a:p>
          <a:p>
            <a:pPr marL="0" lvl="0" indent="0" algn="l" rtl="0">
              <a:lnSpc>
                <a:spcPct val="100000"/>
              </a:lnSpc>
              <a:spcBef>
                <a:spcPts val="1200"/>
              </a:spcBef>
              <a:spcAft>
                <a:spcPts val="0"/>
              </a:spcAft>
              <a:buNone/>
            </a:pPr>
            <a:r>
              <a:rPr lang="fr-CA"/>
              <a:t>11. Faux dilemme</a:t>
            </a:r>
            <a:endParaRPr/>
          </a:p>
          <a:p>
            <a:pPr marL="0" lvl="0" indent="0" algn="l" rtl="0">
              <a:lnSpc>
                <a:spcPct val="100000"/>
              </a:lnSpc>
              <a:spcBef>
                <a:spcPts val="1200"/>
              </a:spcBef>
              <a:spcAft>
                <a:spcPts val="0"/>
              </a:spcAft>
              <a:buNone/>
            </a:pPr>
            <a:r>
              <a:rPr lang="fr-CA"/>
              <a:t>12. Fausse analogie</a:t>
            </a:r>
            <a:endParaRPr/>
          </a:p>
          <a:p>
            <a:pPr marL="0" lvl="0" indent="0" algn="l" rtl="0">
              <a:lnSpc>
                <a:spcPct val="100000"/>
              </a:lnSpc>
              <a:spcBef>
                <a:spcPts val="1200"/>
              </a:spcBef>
              <a:spcAft>
                <a:spcPts val="0"/>
              </a:spcAft>
              <a:buNone/>
            </a:pPr>
            <a:r>
              <a:rPr lang="fr-CA"/>
              <a:t>13. Fausse causalité</a:t>
            </a:r>
            <a:endParaRPr/>
          </a:p>
          <a:p>
            <a:pPr marL="0" lvl="0" indent="0" algn="l" rtl="0">
              <a:lnSpc>
                <a:spcPct val="100000"/>
              </a:lnSpc>
              <a:spcBef>
                <a:spcPts val="1200"/>
              </a:spcBef>
              <a:spcAft>
                <a:spcPts val="0"/>
              </a:spcAft>
              <a:buNone/>
            </a:pPr>
            <a:r>
              <a:rPr lang="fr-CA"/>
              <a:t>14. Pente fatale</a:t>
            </a:r>
            <a:endParaRPr/>
          </a:p>
          <a:p>
            <a:pPr marL="0" lvl="0" indent="0" algn="l" rtl="0">
              <a:lnSpc>
                <a:spcPct val="100000"/>
              </a:lnSpc>
              <a:spcBef>
                <a:spcPts val="1200"/>
              </a:spcBef>
              <a:spcAft>
                <a:spcPts val="0"/>
              </a:spcAft>
              <a:buNone/>
            </a:pPr>
            <a:r>
              <a:rPr lang="fr-CA"/>
              <a:t>15. Caricature</a:t>
            </a:r>
            <a:endParaRPr/>
          </a:p>
          <a:p>
            <a:pPr marL="0" lvl="0" indent="0" algn="l" rtl="0">
              <a:lnSpc>
                <a:spcPct val="100000"/>
              </a:lnSpc>
              <a:spcBef>
                <a:spcPts val="1200"/>
              </a:spcBef>
              <a:spcAft>
                <a:spcPts val="0"/>
              </a:spcAft>
              <a:buNone/>
            </a:pPr>
            <a:r>
              <a:rPr lang="fr-CA"/>
              <a:t>16. Appel aux émotions</a:t>
            </a:r>
            <a:endParaRPr/>
          </a:p>
          <a:p>
            <a:pPr marL="0" lvl="0" indent="0" algn="l" rtl="0">
              <a:lnSpc>
                <a:spcPct val="100000"/>
              </a:lnSpc>
              <a:spcBef>
                <a:spcPts val="1200"/>
              </a:spcBef>
              <a:spcAft>
                <a:spcPts val="0"/>
              </a:spcAft>
              <a:buNone/>
            </a:pPr>
            <a:r>
              <a:rPr lang="fr-CA"/>
              <a:t>17. Complot</a:t>
            </a:r>
            <a:endParaRPr/>
          </a:p>
          <a:p>
            <a:pPr marL="0" lvl="0" indent="0" algn="l" rtl="0">
              <a:lnSpc>
                <a:spcPct val="100000"/>
              </a:lnSpc>
              <a:spcBef>
                <a:spcPts val="1200"/>
              </a:spcBef>
              <a:spcAft>
                <a:spcPts val="1200"/>
              </a:spcAft>
              <a:buNone/>
            </a:pPr>
            <a:r>
              <a:rPr lang="fr-CA"/>
              <a:t>18. Appel à la nature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74550" y="133875"/>
            <a:ext cx="4427100" cy="1786200"/>
          </a:xfrm>
          <a:prstGeom prst="rect">
            <a:avLst/>
          </a:prstGeom>
        </p:spPr>
        <p:txBody>
          <a:bodyPr spcFirstLastPara="1" wrap="square" lIns="91425" tIns="91425" rIns="91425" bIns="91425" anchor="b" anchorCtr="0">
            <a:normAutofit/>
          </a:bodyPr>
          <a:lstStyle/>
          <a:p>
            <a:pPr marL="457200" lvl="0" indent="-495300" algn="ctr" rtl="0">
              <a:spcBef>
                <a:spcPts val="0"/>
              </a:spcBef>
              <a:spcAft>
                <a:spcPts val="0"/>
              </a:spcAft>
              <a:buSzPts val="4200"/>
              <a:buFont typeface="Open Sans"/>
              <a:buAutoNum type="arabicPeriod"/>
            </a:pPr>
            <a:r>
              <a:rPr lang="fr-CA">
                <a:latin typeface="Open Sans"/>
                <a:ea typeface="Open Sans"/>
                <a:cs typeface="Open Sans"/>
                <a:sym typeface="Open Sans"/>
              </a:rPr>
              <a:t>Généralisation abusive</a:t>
            </a:r>
            <a:endParaRPr>
              <a:latin typeface="Open Sans"/>
              <a:ea typeface="Open Sans"/>
              <a:cs typeface="Open Sans"/>
              <a:sym typeface="Open Sans"/>
            </a:endParaRPr>
          </a:p>
        </p:txBody>
      </p:sp>
      <p:sp>
        <p:nvSpPr>
          <p:cNvPr id="82" name="Google Shape;82;p16"/>
          <p:cNvSpPr txBox="1">
            <a:spLocks noGrp="1"/>
          </p:cNvSpPr>
          <p:nvPr>
            <p:ph type="subTitle" idx="1"/>
          </p:nvPr>
        </p:nvSpPr>
        <p:spPr>
          <a:xfrm>
            <a:off x="265500" y="1920076"/>
            <a:ext cx="4045200" cy="1574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CA"/>
              <a:t>Exemple : Mon frère a réussi sans diplôme, donc </a:t>
            </a:r>
            <a:r>
              <a:rPr lang="fr-CA" u="sng"/>
              <a:t>personne </a:t>
            </a:r>
            <a:r>
              <a:rPr lang="fr-CA"/>
              <a:t>n'a besoin d'études pour réussir.</a:t>
            </a:r>
            <a:endParaRPr/>
          </a:p>
        </p:txBody>
      </p:sp>
      <p:sp>
        <p:nvSpPr>
          <p:cNvPr id="83" name="Google Shape;83;p16"/>
          <p:cNvSpPr txBox="1">
            <a:spLocks noGrp="1"/>
          </p:cNvSpPr>
          <p:nvPr>
            <p:ph type="body" idx="2"/>
          </p:nvPr>
        </p:nvSpPr>
        <p:spPr>
          <a:xfrm>
            <a:off x="4939500" y="133875"/>
            <a:ext cx="3837000" cy="4826400"/>
          </a:xfrm>
          <a:prstGeom prst="rect">
            <a:avLst/>
          </a:prstGeom>
          <a:ln>
            <a:noFill/>
          </a:ln>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Poser une </a:t>
            </a:r>
            <a:r>
              <a:rPr lang="fr-CA">
                <a:highlight>
                  <a:srgbClr val="00FF00"/>
                </a:highlight>
              </a:rPr>
              <a:t>conclusion générale qui repose sur un ou quelques cas</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Sans s’assurer que l’échantillonnage est assez représentatif</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Tendance à croire les témoignages plutôt que les faits scientifiques (appel aux émotions)</a:t>
            </a:r>
            <a:endParaRPr/>
          </a:p>
        </p:txBody>
      </p:sp>
      <p:sp>
        <p:nvSpPr>
          <p:cNvPr id="84" name="Google Shape;84;p16"/>
          <p:cNvSpPr txBox="1">
            <a:spLocks noGrp="1"/>
          </p:cNvSpPr>
          <p:nvPr>
            <p:ph type="subTitle" idx="1"/>
          </p:nvPr>
        </p:nvSpPr>
        <p:spPr>
          <a:xfrm>
            <a:off x="265500" y="3968775"/>
            <a:ext cx="4045200" cy="991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Mon frère a réussi sans diplôme, il est donc possible de réussir sans études</a:t>
            </a:r>
            <a:endParaRPr/>
          </a:p>
        </p:txBody>
      </p:sp>
      <p:sp>
        <p:nvSpPr>
          <p:cNvPr id="85" name="Google Shape;85;p16"/>
          <p:cNvSpPr/>
          <p:nvPr/>
        </p:nvSpPr>
        <p:spPr>
          <a:xfrm>
            <a:off x="2104375" y="3257550"/>
            <a:ext cx="352200" cy="598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86" name="Google Shape;86;p16"/>
          <p:cNvPicPr preferRelativeResize="0"/>
          <p:nvPr/>
        </p:nvPicPr>
        <p:blipFill>
          <a:blip r:embed="rId3">
            <a:alphaModFix/>
          </a:blip>
          <a:stretch>
            <a:fillRect/>
          </a:stretch>
        </p:blipFill>
        <p:spPr>
          <a:xfrm>
            <a:off x="3756500" y="2975700"/>
            <a:ext cx="1443100" cy="1443100"/>
          </a:xfrm>
          <a:prstGeom prst="rect">
            <a:avLst/>
          </a:prstGeom>
          <a:noFill/>
          <a:ln>
            <a:noFill/>
          </a:ln>
        </p:spPr>
      </p:pic>
      <p:pic>
        <p:nvPicPr>
          <p:cNvPr id="87" name="Google Shape;87;p16"/>
          <p:cNvPicPr preferRelativeResize="0"/>
          <p:nvPr/>
        </p:nvPicPr>
        <p:blipFill>
          <a:blip r:embed="rId4">
            <a:alphaModFix/>
          </a:blip>
          <a:stretch>
            <a:fillRect/>
          </a:stretch>
        </p:blipFill>
        <p:spPr>
          <a:xfrm>
            <a:off x="3878625" y="1352901"/>
            <a:ext cx="901802" cy="90179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195025" y="-303750"/>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2. Appel à l’ignorance</a:t>
            </a:r>
            <a:endParaRPr>
              <a:latin typeface="Open Sans"/>
              <a:ea typeface="Open Sans"/>
              <a:cs typeface="Open Sans"/>
              <a:sym typeface="Open Sans"/>
            </a:endParaRPr>
          </a:p>
        </p:txBody>
      </p:sp>
      <p:sp>
        <p:nvSpPr>
          <p:cNvPr id="93" name="Google Shape;93;p17"/>
          <p:cNvSpPr txBox="1">
            <a:spLocks noGrp="1"/>
          </p:cNvSpPr>
          <p:nvPr>
            <p:ph type="subTitle" idx="1"/>
          </p:nvPr>
        </p:nvSpPr>
        <p:spPr>
          <a:xfrm>
            <a:off x="265500" y="276900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Exemple : Il est impossible de prouver que je n’ai pas été enlevé par des extraterrestres , donc j’ai été enlevé par des extraterrestres</a:t>
            </a:r>
            <a:endParaRPr/>
          </a:p>
        </p:txBody>
      </p:sp>
      <p:sp>
        <p:nvSpPr>
          <p:cNvPr id="94" name="Google Shape;94;p17"/>
          <p:cNvSpPr txBox="1">
            <a:spLocks noGrp="1"/>
          </p:cNvSpPr>
          <p:nvPr>
            <p:ph type="body" idx="2"/>
          </p:nvPr>
        </p:nvSpPr>
        <p:spPr>
          <a:xfrm>
            <a:off x="4699600" y="157350"/>
            <a:ext cx="4333200" cy="4838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Détourner l’argument vers l’idée que </a:t>
            </a:r>
            <a:r>
              <a:rPr lang="fr-CA">
                <a:highlight>
                  <a:srgbClr val="00FF00"/>
                </a:highlight>
              </a:rPr>
              <a:t>la fausseté ou la véracité (vérité) de celui-ci n’a pas encore été établi</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Sorte de </a:t>
            </a:r>
            <a:r>
              <a:rPr lang="fr-CA">
                <a:highlight>
                  <a:srgbClr val="00FF00"/>
                </a:highlight>
              </a:rPr>
              <a:t>faux dilemmes</a:t>
            </a:r>
            <a:r>
              <a:rPr lang="fr-CA"/>
              <a:t> qui vise à établir deux seules options (ça existe ou ça existe pas).</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En fait, </a:t>
            </a:r>
            <a:r>
              <a:rPr lang="fr-CA">
                <a:highlight>
                  <a:srgbClr val="00FF00"/>
                </a:highlight>
              </a:rPr>
              <a:t>c’est dire qu’un argument est vrai parce que le contraire n’a pas été prouvé</a:t>
            </a:r>
            <a:endParaRPr>
              <a:highlight>
                <a:srgbClr val="00FF00"/>
              </a:highlight>
            </a:endParaRPr>
          </a:p>
        </p:txBody>
      </p:sp>
      <p:sp>
        <p:nvSpPr>
          <p:cNvPr id="95" name="Google Shape;95;p17"/>
          <p:cNvSpPr/>
          <p:nvPr/>
        </p:nvSpPr>
        <p:spPr>
          <a:xfrm>
            <a:off x="1599475" y="1482450"/>
            <a:ext cx="2711232" cy="1061532"/>
          </a:xfrm>
          <a:prstGeom prst="cloud">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 name="Google Shape;96;p17"/>
          <p:cNvSpPr txBox="1"/>
          <p:nvPr/>
        </p:nvSpPr>
        <p:spPr>
          <a:xfrm>
            <a:off x="1928225" y="1730950"/>
            <a:ext cx="2149200" cy="3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CA">
                <a:solidFill>
                  <a:schemeClr val="dk1"/>
                </a:solidFill>
                <a:latin typeface="Open Sans"/>
                <a:ea typeface="Open Sans"/>
                <a:cs typeface="Open Sans"/>
                <a:sym typeface="Open Sans"/>
              </a:rPr>
              <a:t>Souvent utilisé par les sectes/complotistes</a:t>
            </a:r>
            <a:endParaRPr>
              <a:solidFill>
                <a:schemeClr val="dk1"/>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8"/>
          <p:cNvPicPr preferRelativeResize="0"/>
          <p:nvPr/>
        </p:nvPicPr>
        <p:blipFill>
          <a:blip r:embed="rId3">
            <a:alphaModFix/>
          </a:blip>
          <a:stretch>
            <a:fillRect/>
          </a:stretch>
        </p:blipFill>
        <p:spPr>
          <a:xfrm>
            <a:off x="0" y="63375"/>
            <a:ext cx="6484826" cy="3647725"/>
          </a:xfrm>
          <a:prstGeom prst="rect">
            <a:avLst/>
          </a:prstGeom>
          <a:noFill/>
          <a:ln>
            <a:noFill/>
          </a:ln>
        </p:spPr>
      </p:pic>
      <p:pic>
        <p:nvPicPr>
          <p:cNvPr id="102" name="Google Shape;102;p18"/>
          <p:cNvPicPr preferRelativeResize="0"/>
          <p:nvPr/>
        </p:nvPicPr>
        <p:blipFill>
          <a:blip r:embed="rId4">
            <a:alphaModFix/>
          </a:blip>
          <a:stretch>
            <a:fillRect/>
          </a:stretch>
        </p:blipFill>
        <p:spPr>
          <a:xfrm>
            <a:off x="4951175" y="2743200"/>
            <a:ext cx="4267200" cy="2400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265500" y="83775"/>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3. Attaque personnelle</a:t>
            </a:r>
            <a:endParaRPr>
              <a:latin typeface="Open Sans"/>
              <a:ea typeface="Open Sans"/>
              <a:cs typeface="Open Sans"/>
              <a:sym typeface="Open Sans"/>
            </a:endParaRPr>
          </a:p>
        </p:txBody>
      </p:sp>
      <p:sp>
        <p:nvSpPr>
          <p:cNvPr id="108" name="Google Shape;108;p19"/>
          <p:cNvSpPr txBox="1">
            <a:spLocks noGrp="1"/>
          </p:cNvSpPr>
          <p:nvPr>
            <p:ph type="subTitle" idx="1"/>
          </p:nvPr>
        </p:nvSpPr>
        <p:spPr>
          <a:xfrm>
            <a:off x="265500" y="2769000"/>
            <a:ext cx="4045200" cy="9936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Martin est gros, donc il ne peut pas nous dire ce qu’est une bonne alimentation</a:t>
            </a:r>
            <a:endParaRPr/>
          </a:p>
        </p:txBody>
      </p:sp>
      <p:sp>
        <p:nvSpPr>
          <p:cNvPr id="109" name="Google Shape;109;p1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t>
            </a:r>
            <a:r>
              <a:rPr lang="fr-CA">
                <a:highlight>
                  <a:srgbClr val="00FF00"/>
                </a:highlight>
              </a:rPr>
              <a:t>attaquer une personne pour détruire sa crédibilité</a:t>
            </a:r>
            <a:r>
              <a:rPr lang="fr-CA"/>
              <a:t> plutôt que ses arguments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0"/>
          <p:cNvPicPr preferRelativeResize="0"/>
          <p:nvPr/>
        </p:nvPicPr>
        <p:blipFill>
          <a:blip r:embed="rId3">
            <a:alphaModFix/>
          </a:blip>
          <a:stretch>
            <a:fillRect/>
          </a:stretch>
        </p:blipFill>
        <p:spPr>
          <a:xfrm>
            <a:off x="152400" y="1436413"/>
            <a:ext cx="8839199" cy="3233637"/>
          </a:xfrm>
          <a:prstGeom prst="rect">
            <a:avLst/>
          </a:prstGeom>
          <a:noFill/>
          <a:ln>
            <a:noFill/>
          </a:ln>
        </p:spPr>
      </p:pic>
      <p:pic>
        <p:nvPicPr>
          <p:cNvPr id="115" name="Google Shape;115;p20"/>
          <p:cNvPicPr preferRelativeResize="0"/>
          <p:nvPr/>
        </p:nvPicPr>
        <p:blipFill>
          <a:blip r:embed="rId4">
            <a:alphaModFix/>
          </a:blip>
          <a:stretch>
            <a:fillRect/>
          </a:stretch>
        </p:blipFill>
        <p:spPr>
          <a:xfrm>
            <a:off x="844200" y="264838"/>
            <a:ext cx="4495800" cy="1171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65500" y="497925"/>
            <a:ext cx="4045200" cy="9258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fr-CA">
                <a:latin typeface="Open Sans"/>
                <a:ea typeface="Open Sans"/>
                <a:cs typeface="Open Sans"/>
                <a:sym typeface="Open Sans"/>
              </a:rPr>
              <a:t>4. Appel à la popularité </a:t>
            </a:r>
            <a:endParaRPr>
              <a:latin typeface="Open Sans"/>
              <a:ea typeface="Open Sans"/>
              <a:cs typeface="Open Sans"/>
              <a:sym typeface="Open Sans"/>
            </a:endParaRPr>
          </a:p>
        </p:txBody>
      </p:sp>
      <p:sp>
        <p:nvSpPr>
          <p:cNvPr id="121" name="Google Shape;121;p21"/>
          <p:cNvSpPr txBox="1">
            <a:spLocks noGrp="1"/>
          </p:cNvSpPr>
          <p:nvPr>
            <p:ph type="subTitle" idx="1"/>
          </p:nvPr>
        </p:nvSpPr>
        <p:spPr>
          <a:xfrm>
            <a:off x="265500" y="276900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Tout le monde utilise les réseaux sociaux, donc ils ne peuvent pas être négatif pour notre bien-être et notre santé</a:t>
            </a:r>
            <a:endParaRPr/>
          </a:p>
        </p:txBody>
      </p:sp>
      <p:sp>
        <p:nvSpPr>
          <p:cNvPr id="122" name="Google Shape;122;p21"/>
          <p:cNvSpPr txBox="1">
            <a:spLocks noGrp="1"/>
          </p:cNvSpPr>
          <p:nvPr>
            <p:ph type="body" idx="2"/>
          </p:nvPr>
        </p:nvSpPr>
        <p:spPr>
          <a:xfrm>
            <a:off x="4939500" y="122125"/>
            <a:ext cx="3837000" cy="48264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C’est affirmer que </a:t>
            </a:r>
            <a:r>
              <a:rPr lang="fr-CA">
                <a:highlight>
                  <a:srgbClr val="00FF00"/>
                </a:highlight>
              </a:rPr>
              <a:t>quelque chose est vrai</a:t>
            </a:r>
            <a:r>
              <a:rPr lang="fr-CA"/>
              <a:t> ou acceptable </a:t>
            </a:r>
            <a:r>
              <a:rPr lang="fr-CA">
                <a:highlight>
                  <a:srgbClr val="00FF00"/>
                </a:highlight>
              </a:rPr>
              <a:t>par le simple fait qu’un grand nombre de personnes l’affirme</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Ce n’est pas parce que quelque chose est populaire qu’il est bon/valide/positif, etc…</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5500" y="98650"/>
            <a:ext cx="4045200" cy="1466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5. Appel au clan</a:t>
            </a:r>
            <a:endParaRPr>
              <a:latin typeface="Open Sans"/>
              <a:ea typeface="Open Sans"/>
              <a:cs typeface="Open Sans"/>
              <a:sym typeface="Open Sans"/>
            </a:endParaRPr>
          </a:p>
        </p:txBody>
      </p:sp>
      <p:sp>
        <p:nvSpPr>
          <p:cNvPr id="128" name="Google Shape;128;p22"/>
          <p:cNvSpPr txBox="1">
            <a:spLocks noGrp="1"/>
          </p:cNvSpPr>
          <p:nvPr>
            <p:ph type="subTitle" idx="1"/>
          </p:nvPr>
        </p:nvSpPr>
        <p:spPr>
          <a:xfrm>
            <a:off x="265500" y="2069100"/>
            <a:ext cx="4045200" cy="10053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Tous mes amis supportent cette cause, donc elle est juste et honorable</a:t>
            </a:r>
            <a:endParaRPr/>
          </a:p>
        </p:txBody>
      </p:sp>
      <p:sp>
        <p:nvSpPr>
          <p:cNvPr id="129" name="Google Shape;129;p22"/>
          <p:cNvSpPr txBox="1">
            <a:spLocks noGrp="1"/>
          </p:cNvSpPr>
          <p:nvPr>
            <p:ph type="body" idx="2"/>
          </p:nvPr>
        </p:nvSpPr>
        <p:spPr>
          <a:xfrm>
            <a:off x="4687875" y="98650"/>
            <a:ext cx="4456200" cy="43206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highlight>
                  <a:srgbClr val="00FF00"/>
                </a:highlight>
              </a:rPr>
              <a:t>Accepter ou rejeter un argument parce qu’il est supporté par une personne ou un groupe de personne que tu estimes/aimes</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Ressemble à l’appel à la popularité</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Il doit y avoir un </a:t>
            </a:r>
            <a:r>
              <a:rPr lang="fr-CA">
                <a:highlight>
                  <a:srgbClr val="00FF00"/>
                </a:highlight>
              </a:rPr>
              <a:t>sentiment d’appartenance</a:t>
            </a:r>
            <a:r>
              <a:rPr lang="fr-CA"/>
              <a:t> (intérêt porté au groupe de personnes)</a:t>
            </a:r>
            <a:endParaRPr/>
          </a:p>
        </p:txBody>
      </p:sp>
      <p:sp>
        <p:nvSpPr>
          <p:cNvPr id="130" name="Google Shape;130;p22"/>
          <p:cNvSpPr txBox="1">
            <a:spLocks noGrp="1"/>
          </p:cNvSpPr>
          <p:nvPr>
            <p:ph type="subTitle" idx="1"/>
          </p:nvPr>
        </p:nvSpPr>
        <p:spPr>
          <a:xfrm>
            <a:off x="265500" y="3731050"/>
            <a:ext cx="4045200" cy="11706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Mes amis disent que le théâtre, c’est ennuyant, c’est pour cette raison que je trouve cette activité ennuyante aussi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773700" y="803225"/>
            <a:ext cx="7596600" cy="37344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fr-CA" u="sng"/>
              <a:t>Appel à la popularité</a:t>
            </a:r>
            <a:r>
              <a:rPr lang="fr-CA"/>
              <a:t> = La population, la société, « tout le monde »</a:t>
            </a:r>
            <a:endParaRPr/>
          </a:p>
          <a:p>
            <a:pPr marL="0" lvl="0" indent="0" algn="l" rtl="0">
              <a:spcBef>
                <a:spcPts val="0"/>
              </a:spcBef>
              <a:spcAft>
                <a:spcPts val="0"/>
              </a:spcAft>
              <a:buNone/>
            </a:pPr>
            <a:endParaRPr/>
          </a:p>
          <a:p>
            <a:pPr marL="0" lvl="0" indent="0" algn="ctr" rtl="0">
              <a:spcBef>
                <a:spcPts val="0"/>
              </a:spcBef>
              <a:spcAft>
                <a:spcPts val="0"/>
              </a:spcAft>
              <a:buNone/>
            </a:pPr>
            <a:r>
              <a:rPr lang="fr-CA" u="sng"/>
              <a:t>Appel au clan</a:t>
            </a:r>
            <a:r>
              <a:rPr lang="fr-CA"/>
              <a:t> = Mes ami(e)s, ma famille, mon équipe, les gens de mon école, etc.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265500" y="213650"/>
            <a:ext cx="4045200" cy="1574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6. Argument d’autorité</a:t>
            </a:r>
            <a:endParaRPr>
              <a:latin typeface="Open Sans"/>
              <a:ea typeface="Open Sans"/>
              <a:cs typeface="Open Sans"/>
              <a:sym typeface="Open Sans"/>
            </a:endParaRPr>
          </a:p>
        </p:txBody>
      </p:sp>
      <p:sp>
        <p:nvSpPr>
          <p:cNvPr id="141" name="Google Shape;141;p24"/>
          <p:cNvSpPr txBox="1">
            <a:spLocks noGrp="1"/>
          </p:cNvSpPr>
          <p:nvPr>
            <p:ph type="subTitle" idx="1"/>
          </p:nvPr>
        </p:nvSpPr>
        <p:spPr>
          <a:xfrm>
            <a:off x="433350" y="2416725"/>
            <a:ext cx="3709500" cy="133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457200" lvl="0" indent="0" algn="l" rtl="0">
              <a:spcBef>
                <a:spcPts val="0"/>
              </a:spcBef>
              <a:spcAft>
                <a:spcPts val="0"/>
              </a:spcAft>
              <a:buNone/>
            </a:pPr>
            <a:r>
              <a:rPr lang="fr-CA"/>
              <a:t>Un professeur d’université affirme que les vaccins sont inutiles, donc c’est vrai</a:t>
            </a:r>
            <a:endParaRPr/>
          </a:p>
        </p:txBody>
      </p:sp>
      <p:sp>
        <p:nvSpPr>
          <p:cNvPr id="142" name="Google Shape;142;p24"/>
          <p:cNvSpPr txBox="1">
            <a:spLocks noGrp="1"/>
          </p:cNvSpPr>
          <p:nvPr>
            <p:ph type="body" idx="2"/>
          </p:nvPr>
        </p:nvSpPr>
        <p:spPr>
          <a:xfrm>
            <a:off x="4939500" y="724200"/>
            <a:ext cx="3837000" cy="3695100"/>
          </a:xfrm>
          <a:prstGeom prst="rect">
            <a:avLst/>
          </a:prstGeom>
          <a:ln>
            <a:noFill/>
          </a:ln>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highlight>
                  <a:srgbClr val="00FF00"/>
                </a:highlight>
              </a:rPr>
              <a:t>Faire appel incorrectement ou abusivement à l’autorité d’une personne</a:t>
            </a:r>
            <a:r>
              <a:rPr lang="fr-CA"/>
              <a:t> pour appuyer son argument</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Ça ne veut pas dire qu’on ne doit pas faire confiance aux experts et aux scientifiques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265500" y="192600"/>
            <a:ext cx="4045200" cy="1372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fr-CA"/>
              <a:t>7. Appel aux stéréotypes (Appel au préjugé)</a:t>
            </a:r>
            <a:endParaRPr/>
          </a:p>
        </p:txBody>
      </p:sp>
      <p:sp>
        <p:nvSpPr>
          <p:cNvPr id="148" name="Google Shape;148;p25"/>
          <p:cNvSpPr txBox="1">
            <a:spLocks noGrp="1"/>
          </p:cNvSpPr>
          <p:nvPr>
            <p:ph type="subTitle" idx="1"/>
          </p:nvPr>
        </p:nvSpPr>
        <p:spPr>
          <a:xfrm>
            <a:off x="265500" y="1922400"/>
            <a:ext cx="4045200" cy="12987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Les Italiens sont de bons cuisiniers, donc on peut être sûr que ce restaurant italien est excellent</a:t>
            </a:r>
            <a:endParaRPr/>
          </a:p>
        </p:txBody>
      </p:sp>
      <p:sp>
        <p:nvSpPr>
          <p:cNvPr id="149" name="Google Shape;149;p25"/>
          <p:cNvSpPr txBox="1">
            <a:spLocks noGrp="1"/>
          </p:cNvSpPr>
          <p:nvPr>
            <p:ph type="body" idx="2"/>
          </p:nvPr>
        </p:nvSpPr>
        <p:spPr>
          <a:xfrm>
            <a:off x="4746575" y="58700"/>
            <a:ext cx="4238100" cy="4873500"/>
          </a:xfrm>
          <a:prstGeom prst="rect">
            <a:avLst/>
          </a:prstGeom>
        </p:spPr>
        <p:txBody>
          <a:bodyPr spcFirstLastPara="1" wrap="square" lIns="91425" tIns="91425" rIns="91425" bIns="91425" anchor="ctr" anchorCtr="0">
            <a:normAutofit fontScale="92500" lnSpcReduction="20000"/>
          </a:bodyPr>
          <a:lstStyle/>
          <a:p>
            <a:pPr marL="457200" lvl="0" indent="-334327" algn="l" rtl="0">
              <a:spcBef>
                <a:spcPts val="0"/>
              </a:spcBef>
              <a:spcAft>
                <a:spcPts val="0"/>
              </a:spcAft>
              <a:buSzPct val="100000"/>
              <a:buChar char="-"/>
            </a:pPr>
            <a:r>
              <a:rPr lang="fr-CA">
                <a:highlight>
                  <a:srgbClr val="00FF00"/>
                </a:highlight>
              </a:rPr>
              <a:t>Faire appel à une image figée (caricaturale)</a:t>
            </a:r>
            <a:r>
              <a:rPr lang="fr-CA"/>
              <a:t>, une opinion préconçue (favorable ou non) envers une ou un groupe de personne</a:t>
            </a:r>
            <a:endParaRPr/>
          </a:p>
          <a:p>
            <a:pPr marL="457200" lvl="0" indent="0" algn="l" rtl="0">
              <a:spcBef>
                <a:spcPts val="1200"/>
              </a:spcBef>
              <a:spcAft>
                <a:spcPts val="0"/>
              </a:spcAft>
              <a:buNone/>
            </a:pPr>
            <a:endParaRPr/>
          </a:p>
          <a:p>
            <a:pPr marL="457200" lvl="0" indent="-334327" algn="l" rtl="0">
              <a:spcBef>
                <a:spcPts val="1200"/>
              </a:spcBef>
              <a:spcAft>
                <a:spcPts val="0"/>
              </a:spcAft>
              <a:buSzPct val="100000"/>
              <a:buChar char="-"/>
            </a:pPr>
            <a:r>
              <a:rPr lang="fr-CA"/>
              <a:t>Ne tient pas compte des singularités</a:t>
            </a:r>
            <a:endParaRPr/>
          </a:p>
          <a:p>
            <a:pPr marL="457200" lvl="0" indent="0" algn="l" rtl="0">
              <a:spcBef>
                <a:spcPts val="1200"/>
              </a:spcBef>
              <a:spcAft>
                <a:spcPts val="0"/>
              </a:spcAft>
              <a:buNone/>
            </a:pPr>
            <a:endParaRPr/>
          </a:p>
          <a:p>
            <a:pPr marL="457200" lvl="0" indent="-334327" algn="l" rtl="0">
              <a:spcBef>
                <a:spcPts val="1200"/>
              </a:spcBef>
              <a:spcAft>
                <a:spcPts val="0"/>
              </a:spcAft>
              <a:buSzPct val="100000"/>
              <a:buChar char="-"/>
            </a:pPr>
            <a:r>
              <a:rPr lang="fr-CA"/>
              <a:t>Consiste en des </a:t>
            </a:r>
            <a:r>
              <a:rPr lang="fr-CA">
                <a:highlight>
                  <a:srgbClr val="00FF00"/>
                </a:highlight>
              </a:rPr>
              <a:t>croyances partagées</a:t>
            </a:r>
            <a:r>
              <a:rPr lang="fr-CA"/>
              <a:t> qui concernent des comportements, des caractéristiques, des traits de personnalité d’un groupe de personnes défini par la société </a:t>
            </a:r>
            <a:r>
              <a:rPr lang="fr-CA">
                <a:highlight>
                  <a:srgbClr val="00FF00"/>
                </a:highlight>
              </a:rPr>
              <a:t>sans tenir compte de l’individualité des membres de ce groupe</a:t>
            </a:r>
            <a:endParaRPr>
              <a:highlight>
                <a:srgbClr val="00FF00"/>
              </a:highlight>
            </a:endParaRPr>
          </a:p>
        </p:txBody>
      </p:sp>
      <p:sp>
        <p:nvSpPr>
          <p:cNvPr id="150" name="Google Shape;150;p25"/>
          <p:cNvSpPr txBox="1">
            <a:spLocks noGrp="1"/>
          </p:cNvSpPr>
          <p:nvPr>
            <p:ph type="subTitle" idx="1"/>
          </p:nvPr>
        </p:nvSpPr>
        <p:spPr>
          <a:xfrm>
            <a:off x="265500" y="3683600"/>
            <a:ext cx="4045200" cy="912600"/>
          </a:xfrm>
          <a:prstGeom prst="rect">
            <a:avLst/>
          </a:prstGeom>
          <a:ln w="9525" cap="flat" cmpd="sng">
            <a:solidFill>
              <a:srgbClr val="1D254F"/>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Les personnes tatouées sont forcément des délinquants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265500" y="133875"/>
            <a:ext cx="4045200" cy="914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8. Appel à la tradition</a:t>
            </a:r>
            <a:endParaRPr/>
          </a:p>
        </p:txBody>
      </p:sp>
      <p:sp>
        <p:nvSpPr>
          <p:cNvPr id="156" name="Google Shape;156;p26"/>
          <p:cNvSpPr txBox="1">
            <a:spLocks noGrp="1"/>
          </p:cNvSpPr>
          <p:nvPr>
            <p:ph type="subTitle" idx="1"/>
          </p:nvPr>
        </p:nvSpPr>
        <p:spPr>
          <a:xfrm>
            <a:off x="265500" y="1683825"/>
            <a:ext cx="4045200" cy="13224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Je préfère utiliser un carnet papier pour tout, car c’est comme ça que les gens faisaient avant l’ère numérique.</a:t>
            </a:r>
            <a:endParaRPr/>
          </a:p>
        </p:txBody>
      </p:sp>
      <p:sp>
        <p:nvSpPr>
          <p:cNvPr id="157" name="Google Shape;157;p26"/>
          <p:cNvSpPr txBox="1">
            <a:spLocks noGrp="1"/>
          </p:cNvSpPr>
          <p:nvPr>
            <p:ph type="body" idx="2"/>
          </p:nvPr>
        </p:nvSpPr>
        <p:spPr>
          <a:xfrm>
            <a:off x="4699600" y="75150"/>
            <a:ext cx="4368600" cy="4979100"/>
          </a:xfrm>
          <a:prstGeom prst="rect">
            <a:avLst/>
          </a:prstGeom>
        </p:spPr>
        <p:txBody>
          <a:bodyPr spcFirstLastPara="1" wrap="square" lIns="91425" tIns="91425" rIns="91425" bIns="91425" anchor="ctr" anchorCtr="0">
            <a:normAutofit fontScale="92500" lnSpcReduction="20000"/>
          </a:bodyPr>
          <a:lstStyle/>
          <a:p>
            <a:pPr marL="457200" lvl="0" indent="-334327" algn="l" rtl="0">
              <a:spcBef>
                <a:spcPts val="0"/>
              </a:spcBef>
              <a:spcAft>
                <a:spcPts val="0"/>
              </a:spcAft>
              <a:buSzPct val="100000"/>
              <a:buChar char="-"/>
            </a:pPr>
            <a:r>
              <a:rPr lang="fr-CA"/>
              <a:t>Consiste en une </a:t>
            </a:r>
            <a:r>
              <a:rPr lang="fr-CA">
                <a:highlight>
                  <a:srgbClr val="00FF00"/>
                </a:highlight>
              </a:rPr>
              <a:t>argumentation qui se prétend justifiée du fait qu’elle est soutenue par une tradition</a:t>
            </a:r>
            <a:r>
              <a:rPr lang="fr-CA"/>
              <a:t> ou par le simple fait qu’il en a toujours été ainsi</a:t>
            </a:r>
            <a:endParaRPr/>
          </a:p>
          <a:p>
            <a:pPr marL="457200" lvl="0" indent="0" algn="l" rtl="0">
              <a:spcBef>
                <a:spcPts val="1200"/>
              </a:spcBef>
              <a:spcAft>
                <a:spcPts val="0"/>
              </a:spcAft>
              <a:buNone/>
            </a:pPr>
            <a:endParaRPr/>
          </a:p>
          <a:p>
            <a:pPr marL="457200" lvl="0" indent="-334327" algn="l" rtl="0">
              <a:spcBef>
                <a:spcPts val="1200"/>
              </a:spcBef>
              <a:spcAft>
                <a:spcPts val="0"/>
              </a:spcAft>
              <a:buSzPct val="100000"/>
              <a:buChar char="-"/>
            </a:pPr>
            <a:r>
              <a:rPr lang="fr-CA"/>
              <a:t>Ce n’est pas parce que l’on fait quelque chose depuis plusieurs années que c’est une bonne idée pour autant.</a:t>
            </a:r>
            <a:endParaRPr/>
          </a:p>
          <a:p>
            <a:pPr marL="457200" lvl="0" indent="0" algn="l" rtl="0">
              <a:spcBef>
                <a:spcPts val="1200"/>
              </a:spcBef>
              <a:spcAft>
                <a:spcPts val="0"/>
              </a:spcAft>
              <a:buNone/>
            </a:pPr>
            <a:endParaRPr/>
          </a:p>
          <a:p>
            <a:pPr marL="457200" lvl="0" indent="-334327" algn="l" rtl="0">
              <a:spcBef>
                <a:spcPts val="1200"/>
              </a:spcBef>
              <a:spcAft>
                <a:spcPts val="0"/>
              </a:spcAft>
              <a:buSzPct val="100000"/>
              <a:buChar char="-"/>
            </a:pPr>
            <a:r>
              <a:rPr lang="fr-CA"/>
              <a:t>Dans l’alimentaire, il est souvent dit « recette originale » depuis X années. Ça ne veut pas dire que la recette originale est bonne. Ça veut aussi dire qu’elle ne s’est pas améliorée depuis tout ce temps</a:t>
            </a:r>
            <a:endParaRPr/>
          </a:p>
        </p:txBody>
      </p:sp>
      <p:sp>
        <p:nvSpPr>
          <p:cNvPr id="158" name="Google Shape;158;p26"/>
          <p:cNvSpPr txBox="1">
            <a:spLocks noGrp="1"/>
          </p:cNvSpPr>
          <p:nvPr>
            <p:ph type="subTitle" idx="1"/>
          </p:nvPr>
        </p:nvSpPr>
        <p:spPr>
          <a:xfrm>
            <a:off x="265500" y="3456800"/>
            <a:ext cx="4045200" cy="13224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CA"/>
              <a:t>Je préfère utiliser un carnet papier pour tout, car c’est comme ça que les gens faisaient avant l’ère numérique.</a:t>
            </a:r>
            <a:endParaRPr/>
          </a:p>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a:spLocks noGrp="1"/>
          </p:cNvSpPr>
          <p:nvPr>
            <p:ph type="title"/>
          </p:nvPr>
        </p:nvSpPr>
        <p:spPr>
          <a:xfrm>
            <a:off x="265500" y="143225"/>
            <a:ext cx="4045200" cy="1574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9. Appel à la nouveauté (ou à la modernité)</a:t>
            </a:r>
            <a:endParaRPr/>
          </a:p>
        </p:txBody>
      </p:sp>
      <p:sp>
        <p:nvSpPr>
          <p:cNvPr id="164" name="Google Shape;164;p27"/>
          <p:cNvSpPr txBox="1">
            <a:spLocks noGrp="1"/>
          </p:cNvSpPr>
          <p:nvPr>
            <p:ph type="subTitle" idx="1"/>
          </p:nvPr>
        </p:nvSpPr>
        <p:spPr>
          <a:xfrm>
            <a:off x="265500" y="276900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Je vais acheter cette nouvelle voiture électrique parce qu’elle est récente, donc elle doit être meilleure que les modèles de l'année dernière.</a:t>
            </a:r>
            <a:endParaRPr/>
          </a:p>
        </p:txBody>
      </p:sp>
      <p:sp>
        <p:nvSpPr>
          <p:cNvPr id="165" name="Google Shape;165;p27"/>
          <p:cNvSpPr txBox="1">
            <a:spLocks noGrp="1"/>
          </p:cNvSpPr>
          <p:nvPr>
            <p:ph type="body" idx="2"/>
          </p:nvPr>
        </p:nvSpPr>
        <p:spPr>
          <a:xfrm>
            <a:off x="4939500" y="143225"/>
            <a:ext cx="3837000" cy="48522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en une </a:t>
            </a:r>
            <a:r>
              <a:rPr lang="fr-CA">
                <a:highlight>
                  <a:srgbClr val="00FF00"/>
                </a:highlight>
              </a:rPr>
              <a:t>argumentation qui se prétend justifiée du fait qu’elle est nouvelle</a:t>
            </a:r>
            <a:r>
              <a:rPr lang="fr-CA"/>
              <a:t> ou inédite</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Nouveau ne veut pas dire nécessairement mieux. </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Ex : nouveau téléphone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p:nvPr/>
        </p:nvSpPr>
        <p:spPr>
          <a:xfrm>
            <a:off x="2350" y="16450"/>
            <a:ext cx="9288900" cy="52728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sp>
        <p:nvSpPr>
          <p:cNvPr id="171" name="Google Shape;171;p28"/>
          <p:cNvSpPr txBox="1"/>
          <p:nvPr/>
        </p:nvSpPr>
        <p:spPr>
          <a:xfrm>
            <a:off x="2315775" y="2118475"/>
            <a:ext cx="4709100" cy="278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CA" sz="3000" b="1">
                <a:solidFill>
                  <a:schemeClr val="dk1"/>
                </a:solidFill>
                <a:latin typeface="Open Sans"/>
                <a:ea typeface="Open Sans"/>
                <a:cs typeface="Open Sans"/>
                <a:sym typeface="Open Sans"/>
              </a:rPr>
              <a:t>Activité</a:t>
            </a:r>
            <a:endParaRPr sz="3000" b="1">
              <a:solidFill>
                <a:schemeClr val="dk1"/>
              </a:solidFill>
              <a:latin typeface="Open Sans"/>
              <a:ea typeface="Open Sans"/>
              <a:cs typeface="Open Sans"/>
              <a:sym typeface="Open Sans"/>
            </a:endParaRPr>
          </a:p>
          <a:p>
            <a:pPr marL="457200" lvl="0" indent="-419100" algn="ctr" rtl="0">
              <a:spcBef>
                <a:spcPts val="0"/>
              </a:spcBef>
              <a:spcAft>
                <a:spcPts val="0"/>
              </a:spcAft>
              <a:buClr>
                <a:schemeClr val="dk1"/>
              </a:buClr>
              <a:buSzPts val="3000"/>
              <a:buFont typeface="Open Sans"/>
              <a:buChar char="-"/>
            </a:pPr>
            <a:r>
              <a:rPr lang="fr-CA" sz="3000" b="1">
                <a:solidFill>
                  <a:schemeClr val="dk1"/>
                </a:solidFill>
                <a:latin typeface="Open Sans"/>
                <a:ea typeface="Open Sans"/>
                <a:cs typeface="Open Sans"/>
                <a:sym typeface="Open Sans"/>
              </a:rPr>
              <a:t> </a:t>
            </a:r>
            <a:endParaRPr sz="3000" b="1">
              <a:solidFill>
                <a:schemeClr val="dk1"/>
              </a:solidFill>
              <a:latin typeface="Open Sans"/>
              <a:ea typeface="Open Sans"/>
              <a:cs typeface="Open Sans"/>
              <a:sym typeface="Open Sans"/>
            </a:endParaRPr>
          </a:p>
          <a:p>
            <a:pPr marL="0" lvl="0" indent="0" algn="ctr" rtl="0">
              <a:spcBef>
                <a:spcPts val="0"/>
              </a:spcBef>
              <a:spcAft>
                <a:spcPts val="0"/>
              </a:spcAft>
              <a:buNone/>
            </a:pPr>
            <a:r>
              <a:rPr lang="fr-CA" sz="3000" b="1">
                <a:solidFill>
                  <a:srgbClr val="1D254F"/>
                </a:solidFill>
                <a:latin typeface="Nunito"/>
                <a:ea typeface="Nunito"/>
                <a:cs typeface="Nunito"/>
                <a:sym typeface="Nunito"/>
              </a:rPr>
              <a:t>Associe les affirmations aux erreurs de raisonnement</a:t>
            </a:r>
            <a:endParaRPr sz="3000" b="1">
              <a:solidFill>
                <a:schemeClr val="dk1"/>
              </a:solidFill>
              <a:latin typeface="Open Sans"/>
              <a:ea typeface="Open Sans"/>
              <a:cs typeface="Open Sans"/>
              <a:sym typeface="Open Sans"/>
            </a:endParaRPr>
          </a:p>
          <a:p>
            <a:pPr marL="0" lvl="0" indent="0" algn="l" rtl="0">
              <a:spcBef>
                <a:spcPts val="0"/>
              </a:spcBef>
              <a:spcAft>
                <a:spcPts val="0"/>
              </a:spcAft>
              <a:buNone/>
            </a:pPr>
            <a:endParaRPr sz="1800" b="1">
              <a:solidFill>
                <a:schemeClr val="dk1"/>
              </a:solidFill>
              <a:latin typeface="Open Sans"/>
              <a:ea typeface="Open Sans"/>
              <a:cs typeface="Open Sans"/>
              <a:sym typeface="Open Sans"/>
            </a:endParaRPr>
          </a:p>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pic>
        <p:nvPicPr>
          <p:cNvPr id="172" name="Google Shape;172;p28"/>
          <p:cNvPicPr preferRelativeResize="0"/>
          <p:nvPr/>
        </p:nvPicPr>
        <p:blipFill>
          <a:blip r:embed="rId3">
            <a:alphaModFix/>
          </a:blip>
          <a:stretch>
            <a:fillRect/>
          </a:stretch>
        </p:blipFill>
        <p:spPr>
          <a:xfrm>
            <a:off x="98325" y="77116"/>
            <a:ext cx="9144001" cy="168906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218525" y="298275"/>
            <a:ext cx="4045200" cy="984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10. Double faute</a:t>
            </a:r>
            <a:endParaRPr/>
          </a:p>
        </p:txBody>
      </p:sp>
      <p:sp>
        <p:nvSpPr>
          <p:cNvPr id="178" name="Google Shape;178;p29"/>
          <p:cNvSpPr txBox="1">
            <a:spLocks noGrp="1"/>
          </p:cNvSpPr>
          <p:nvPr>
            <p:ph type="subTitle" idx="1"/>
          </p:nvPr>
        </p:nvSpPr>
        <p:spPr>
          <a:xfrm>
            <a:off x="265500" y="2769000"/>
            <a:ext cx="4045200" cy="13224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D'accord, notre entreprise pollue un peu, mais nos concurrents polluent encore plus</a:t>
            </a:r>
            <a:endParaRPr/>
          </a:p>
        </p:txBody>
      </p:sp>
      <p:sp>
        <p:nvSpPr>
          <p:cNvPr id="179" name="Google Shape;179;p29"/>
          <p:cNvSpPr txBox="1">
            <a:spLocks noGrp="1"/>
          </p:cNvSpPr>
          <p:nvPr>
            <p:ph type="body" idx="2"/>
          </p:nvPr>
        </p:nvSpPr>
        <p:spPr>
          <a:xfrm>
            <a:off x="4939500" y="192600"/>
            <a:ext cx="3837000" cy="47559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tenter de </a:t>
            </a:r>
            <a:r>
              <a:rPr lang="fr-CA">
                <a:highlight>
                  <a:srgbClr val="00FF00"/>
                </a:highlight>
              </a:rPr>
              <a:t>justifier un comportement en signalant que d’autres font la même faute</a:t>
            </a:r>
            <a:r>
              <a:rPr lang="fr-CA"/>
              <a:t> ou pire encore</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Le fait de légitimer l’erreur ou la faute en se basant sur le fait que quelqu’un d’autre le fait également ne rend pas la faute moins grave.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a:spLocks noGrp="1"/>
          </p:cNvSpPr>
          <p:nvPr>
            <p:ph type="title"/>
          </p:nvPr>
        </p:nvSpPr>
        <p:spPr>
          <a:xfrm>
            <a:off x="265500" y="169100"/>
            <a:ext cx="4045200" cy="867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11. Faux dilemme</a:t>
            </a:r>
            <a:endParaRPr/>
          </a:p>
        </p:txBody>
      </p:sp>
      <p:sp>
        <p:nvSpPr>
          <p:cNvPr id="185" name="Google Shape;185;p30"/>
          <p:cNvSpPr txBox="1">
            <a:spLocks noGrp="1"/>
          </p:cNvSpPr>
          <p:nvPr>
            <p:ph type="subTitle" idx="1"/>
          </p:nvPr>
        </p:nvSpPr>
        <p:spPr>
          <a:xfrm>
            <a:off x="265500" y="1348075"/>
            <a:ext cx="4045200" cy="946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Soit vous soutenez ce projet de loi, soit vous êtes contre l'amélioration du pays</a:t>
            </a:r>
            <a:endParaRPr/>
          </a:p>
        </p:txBody>
      </p:sp>
      <p:sp>
        <p:nvSpPr>
          <p:cNvPr id="186" name="Google Shape;186;p30"/>
          <p:cNvSpPr txBox="1">
            <a:spLocks noGrp="1"/>
          </p:cNvSpPr>
          <p:nvPr>
            <p:ph type="body" idx="2"/>
          </p:nvPr>
        </p:nvSpPr>
        <p:spPr>
          <a:xfrm>
            <a:off x="4699600" y="-89125"/>
            <a:ext cx="4333200" cy="51435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t>
            </a:r>
            <a:r>
              <a:rPr lang="fr-CA">
                <a:highlight>
                  <a:srgbClr val="00FF00"/>
                </a:highlight>
              </a:rPr>
              <a:t>ne présenter que deux possibilités pour faire un choix.</a:t>
            </a:r>
            <a:r>
              <a:rPr lang="fr-CA"/>
              <a:t> </a:t>
            </a:r>
            <a:r>
              <a:rPr lang="fr-CA">
                <a:highlight>
                  <a:srgbClr val="00FF00"/>
                </a:highlight>
              </a:rPr>
              <a:t>Comme l’une est indésirable, l’autre est inévitablement le choix à faire</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Peut avoir l’apparence d’un bon argument logique, mais qu’on on y regarde de plus près, il devient évident qu’il y a bien plus de possibilités que les deux avancées.</a:t>
            </a:r>
            <a:endParaRPr/>
          </a:p>
        </p:txBody>
      </p:sp>
      <p:sp>
        <p:nvSpPr>
          <p:cNvPr id="187" name="Google Shape;187;p30"/>
          <p:cNvSpPr txBox="1">
            <a:spLocks noGrp="1"/>
          </p:cNvSpPr>
          <p:nvPr>
            <p:ph type="subTitle" idx="1"/>
          </p:nvPr>
        </p:nvSpPr>
        <p:spPr>
          <a:xfrm>
            <a:off x="265500" y="2865325"/>
            <a:ext cx="4045200" cy="946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Soit tu réussis tes études, soit tu échoues complètement dans la vie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265500" y="0"/>
            <a:ext cx="4045200" cy="914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12. Fausse analogie</a:t>
            </a:r>
            <a:endParaRPr/>
          </a:p>
        </p:txBody>
      </p:sp>
      <p:sp>
        <p:nvSpPr>
          <p:cNvPr id="193" name="Google Shape;193;p31"/>
          <p:cNvSpPr txBox="1">
            <a:spLocks noGrp="1"/>
          </p:cNvSpPr>
          <p:nvPr>
            <p:ph type="subTitle" idx="1"/>
          </p:nvPr>
        </p:nvSpPr>
        <p:spPr>
          <a:xfrm>
            <a:off x="265500" y="977500"/>
            <a:ext cx="4045200" cy="133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Tous les élèves du secondaire devraient payer leurs cours, comme les étudiants à l’université paient les leurs</a:t>
            </a:r>
            <a:endParaRPr/>
          </a:p>
        </p:txBody>
      </p:sp>
      <p:sp>
        <p:nvSpPr>
          <p:cNvPr id="194" name="Google Shape;194;p31"/>
          <p:cNvSpPr txBox="1">
            <a:spLocks noGrp="1"/>
          </p:cNvSpPr>
          <p:nvPr>
            <p:ph type="body" idx="2"/>
          </p:nvPr>
        </p:nvSpPr>
        <p:spPr>
          <a:xfrm>
            <a:off x="4746575" y="0"/>
            <a:ext cx="4238100" cy="5019000"/>
          </a:xfrm>
          <a:prstGeom prst="rect">
            <a:avLst/>
          </a:prstGeom>
        </p:spPr>
        <p:txBody>
          <a:bodyPr spcFirstLastPara="1" wrap="square" lIns="91425" tIns="91425" rIns="91425" bIns="91425" anchor="ctr" anchorCtr="0">
            <a:normAutofit lnSpcReduction="10000"/>
          </a:bodyPr>
          <a:lstStyle/>
          <a:p>
            <a:pPr marL="457200" lvl="0" indent="-342900" algn="l" rtl="0">
              <a:spcBef>
                <a:spcPts val="0"/>
              </a:spcBef>
              <a:spcAft>
                <a:spcPts val="0"/>
              </a:spcAft>
              <a:buSzPts val="1800"/>
              <a:buChar char="-"/>
            </a:pPr>
            <a:r>
              <a:rPr lang="fr-CA"/>
              <a:t>Consiste à justifier une conclusion à l’aide d’une analogie établie entre </a:t>
            </a:r>
            <a:r>
              <a:rPr lang="fr-CA">
                <a:highlight>
                  <a:srgbClr val="00FF00"/>
                </a:highlight>
              </a:rPr>
              <a:t>deux phénomènes qui ne sont pas suffisamment semblables</a:t>
            </a:r>
            <a:r>
              <a:rPr lang="fr-CA"/>
              <a:t> pour justifier ce procédé</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Parfois, il y a qu’une toute petite ressemblance entre deux choses, et on peut être porté à faire une comparaison entre les deux, mais les situations étant trop différentes, il n’est pas possible de faire une comparaison qui se tienne</a:t>
            </a:r>
            <a:endParaRPr/>
          </a:p>
        </p:txBody>
      </p:sp>
      <p:sp>
        <p:nvSpPr>
          <p:cNvPr id="195" name="Google Shape;195;p31"/>
          <p:cNvSpPr txBox="1">
            <a:spLocks noGrp="1"/>
          </p:cNvSpPr>
          <p:nvPr>
            <p:ph type="subTitle" idx="1"/>
          </p:nvPr>
        </p:nvSpPr>
        <p:spPr>
          <a:xfrm>
            <a:off x="265500" y="3637750"/>
            <a:ext cx="4045200" cy="133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CA"/>
              <a:t>Permettre l’immigration, c’est comme laisser des inconnus entrer dans ta maison sans invitation.</a:t>
            </a:r>
            <a:endParaRPr/>
          </a:p>
        </p:txBody>
      </p:sp>
      <p:sp>
        <p:nvSpPr>
          <p:cNvPr id="196" name="Google Shape;196;p31"/>
          <p:cNvSpPr/>
          <p:nvPr/>
        </p:nvSpPr>
        <p:spPr>
          <a:xfrm>
            <a:off x="542525" y="2388550"/>
            <a:ext cx="3628692" cy="1184976"/>
          </a:xfrm>
          <a:prstGeom prst="cloud">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7" name="Google Shape;197;p31"/>
          <p:cNvSpPr txBox="1"/>
          <p:nvPr/>
        </p:nvSpPr>
        <p:spPr>
          <a:xfrm>
            <a:off x="761525" y="2571750"/>
            <a:ext cx="2794800" cy="59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CA" sz="1800">
                <a:solidFill>
                  <a:schemeClr val="dk1"/>
                </a:solidFill>
                <a:latin typeface="Open Sans"/>
                <a:ea typeface="Open Sans"/>
                <a:cs typeface="Open Sans"/>
                <a:sym typeface="Open Sans"/>
              </a:rPr>
              <a:t>En gros, c’est une </a:t>
            </a:r>
            <a:r>
              <a:rPr lang="fr-CA" sz="1800">
                <a:solidFill>
                  <a:schemeClr val="dk1"/>
                </a:solidFill>
                <a:highlight>
                  <a:srgbClr val="00FF00"/>
                </a:highlight>
                <a:latin typeface="Open Sans"/>
                <a:ea typeface="Open Sans"/>
                <a:cs typeface="Open Sans"/>
                <a:sym typeface="Open Sans"/>
              </a:rPr>
              <a:t>mauvaise comparaison</a:t>
            </a:r>
            <a:endParaRPr sz="1800">
              <a:solidFill>
                <a:schemeClr val="dk1"/>
              </a:solidFill>
              <a:highlight>
                <a:srgbClr val="00FF00"/>
              </a:highlight>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265500" y="368750"/>
            <a:ext cx="4045200" cy="949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13. Fausse causalité</a:t>
            </a:r>
            <a:endParaRPr/>
          </a:p>
        </p:txBody>
      </p:sp>
      <p:sp>
        <p:nvSpPr>
          <p:cNvPr id="203" name="Google Shape;203;p32"/>
          <p:cNvSpPr txBox="1">
            <a:spLocks noGrp="1"/>
          </p:cNvSpPr>
          <p:nvPr>
            <p:ph type="subTitle" idx="1"/>
          </p:nvPr>
        </p:nvSpPr>
        <p:spPr>
          <a:xfrm>
            <a:off x="265500" y="147725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Les élèves vont à l’école de plus en plus longtemps, et il y a de plus en plus de pauvreté, donc l’école est source de pauvreté</a:t>
            </a:r>
            <a:endParaRPr/>
          </a:p>
        </p:txBody>
      </p:sp>
      <p:sp>
        <p:nvSpPr>
          <p:cNvPr id="204" name="Google Shape;204;p32"/>
          <p:cNvSpPr txBox="1">
            <a:spLocks noGrp="1"/>
          </p:cNvSpPr>
          <p:nvPr>
            <p:ph type="body" idx="2"/>
          </p:nvPr>
        </p:nvSpPr>
        <p:spPr>
          <a:xfrm>
            <a:off x="4939500" y="133875"/>
            <a:ext cx="3837000" cy="46035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en une </a:t>
            </a:r>
            <a:r>
              <a:rPr lang="fr-CA">
                <a:highlight>
                  <a:srgbClr val="00FF00"/>
                </a:highlight>
              </a:rPr>
              <a:t>argumentation qui s’appuie sur un lien douteux de cause à effet</a:t>
            </a:r>
            <a:r>
              <a:rPr lang="fr-CA"/>
              <a:t> entre deux phénomènes</a:t>
            </a: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Amalgame d’</a:t>
            </a:r>
            <a:r>
              <a:rPr lang="fr-CA">
                <a:highlight>
                  <a:srgbClr val="00FF00"/>
                </a:highlight>
              </a:rPr>
              <a:t>informations mises ensembles qui n’ont pas réellement de lien</a:t>
            </a:r>
            <a:r>
              <a:rPr lang="fr-CA"/>
              <a:t>. </a:t>
            </a:r>
            <a:endParaRPr/>
          </a:p>
        </p:txBody>
      </p:sp>
      <p:sp>
        <p:nvSpPr>
          <p:cNvPr id="205" name="Google Shape;205;p32"/>
          <p:cNvSpPr txBox="1">
            <a:spLocks noGrp="1"/>
          </p:cNvSpPr>
          <p:nvPr>
            <p:ph type="subTitle" idx="1"/>
          </p:nvPr>
        </p:nvSpPr>
        <p:spPr>
          <a:xfrm>
            <a:off x="265500" y="3297176"/>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CA"/>
              <a:t>Les jeux vidéo sont sortis dans les années 1980, et depuis, la violence a augmenté. C'est donc à cause des jeux vidéo que les gens sont plus violents</a:t>
            </a:r>
            <a:endParaRPr/>
          </a:p>
        </p:txBody>
      </p:sp>
      <p:sp>
        <p:nvSpPr>
          <p:cNvPr id="206" name="Google Shape;206;p32"/>
          <p:cNvSpPr txBox="1"/>
          <p:nvPr/>
        </p:nvSpPr>
        <p:spPr>
          <a:xfrm>
            <a:off x="4828775" y="2247650"/>
            <a:ext cx="4045200" cy="8037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CA" sz="1800" u="sng">
                <a:solidFill>
                  <a:schemeClr val="dk1"/>
                </a:solidFill>
                <a:latin typeface="Open Sans"/>
                <a:ea typeface="Open Sans"/>
                <a:cs typeface="Open Sans"/>
                <a:sym typeface="Open Sans"/>
              </a:rPr>
              <a:t>Causalité</a:t>
            </a:r>
            <a:endParaRPr sz="1800" u="sng">
              <a:solidFill>
                <a:schemeClr val="dk1"/>
              </a:solidFill>
              <a:latin typeface="Open Sans"/>
              <a:ea typeface="Open Sans"/>
              <a:cs typeface="Open Sans"/>
              <a:sym typeface="Open Sans"/>
            </a:endParaRPr>
          </a:p>
          <a:p>
            <a:pPr marL="0" lvl="0" indent="0" algn="ctr" rtl="0">
              <a:spcBef>
                <a:spcPts val="0"/>
              </a:spcBef>
              <a:spcAft>
                <a:spcPts val="0"/>
              </a:spcAft>
              <a:buNone/>
            </a:pPr>
            <a:r>
              <a:rPr lang="fr-CA" sz="1800">
                <a:solidFill>
                  <a:schemeClr val="dk1"/>
                </a:solidFill>
                <a:latin typeface="Open Sans"/>
                <a:ea typeface="Open Sans"/>
                <a:cs typeface="Open Sans"/>
                <a:sym typeface="Open Sans"/>
              </a:rPr>
              <a:t>Cause –­-&gt; Conséquence</a:t>
            </a:r>
            <a:endParaRPr sz="1800">
              <a:solidFill>
                <a:schemeClr val="dk1"/>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graphicFrame>
        <p:nvGraphicFramePr>
          <p:cNvPr id="211" name="Google Shape;211;p33"/>
          <p:cNvGraphicFramePr/>
          <p:nvPr/>
        </p:nvGraphicFramePr>
        <p:xfrm>
          <a:off x="388800" y="546675"/>
          <a:ext cx="3000000" cy="3000000"/>
        </p:xfrm>
        <a:graphic>
          <a:graphicData uri="http://schemas.openxmlformats.org/drawingml/2006/table">
            <a:tbl>
              <a:tblPr>
                <a:noFill/>
                <a:tableStyleId>{9A7FF399-5DE0-473E-9A7D-34511730C9C1}</a:tableStyleId>
              </a:tblPr>
              <a:tblGrid>
                <a:gridCol w="2824025">
                  <a:extLst>
                    <a:ext uri="{9D8B030D-6E8A-4147-A177-3AD203B41FA5}">
                      <a16:colId xmlns:a16="http://schemas.microsoft.com/office/drawing/2014/main" val="20000"/>
                    </a:ext>
                  </a:extLst>
                </a:gridCol>
                <a:gridCol w="2824025">
                  <a:extLst>
                    <a:ext uri="{9D8B030D-6E8A-4147-A177-3AD203B41FA5}">
                      <a16:colId xmlns:a16="http://schemas.microsoft.com/office/drawing/2014/main" val="20001"/>
                    </a:ext>
                  </a:extLst>
                </a:gridCol>
                <a:gridCol w="2824025">
                  <a:extLst>
                    <a:ext uri="{9D8B030D-6E8A-4147-A177-3AD203B41FA5}">
                      <a16:colId xmlns:a16="http://schemas.microsoft.com/office/drawing/2014/main" val="20002"/>
                    </a:ext>
                  </a:extLst>
                </a:gridCol>
              </a:tblGrid>
              <a:tr h="819475">
                <a:tc>
                  <a:txBody>
                    <a:bodyPr/>
                    <a:lstStyle/>
                    <a:p>
                      <a:pPr marL="0" lvl="0" indent="0" algn="ctr" rtl="0">
                        <a:spcBef>
                          <a:spcPts val="0"/>
                        </a:spcBef>
                        <a:spcAft>
                          <a:spcPts val="0"/>
                        </a:spcAft>
                        <a:buNone/>
                      </a:pPr>
                      <a:r>
                        <a:rPr lang="fr-CA" sz="1800" b="1"/>
                        <a:t>Dilemme</a:t>
                      </a:r>
                      <a:endParaRPr sz="1800" b="1"/>
                    </a:p>
                  </a:txBody>
                  <a:tcPr marL="91425" marR="91425" marT="91425" marB="91425">
                    <a:solidFill>
                      <a:srgbClr val="D9D9D9"/>
                    </a:solidFill>
                  </a:tcPr>
                </a:tc>
                <a:tc>
                  <a:txBody>
                    <a:bodyPr/>
                    <a:lstStyle/>
                    <a:p>
                      <a:pPr marL="0" lvl="0" indent="0" algn="ctr" rtl="0">
                        <a:spcBef>
                          <a:spcPts val="0"/>
                        </a:spcBef>
                        <a:spcAft>
                          <a:spcPts val="0"/>
                        </a:spcAft>
                        <a:buNone/>
                      </a:pPr>
                      <a:r>
                        <a:rPr lang="fr-CA" sz="1800" b="1"/>
                        <a:t>Analogie</a:t>
                      </a:r>
                      <a:endParaRPr sz="1800" b="1"/>
                    </a:p>
                  </a:txBody>
                  <a:tcPr marL="91425" marR="91425" marT="91425" marB="91425">
                    <a:solidFill>
                      <a:srgbClr val="D9D9D9"/>
                    </a:solidFill>
                  </a:tcPr>
                </a:tc>
                <a:tc>
                  <a:txBody>
                    <a:bodyPr/>
                    <a:lstStyle/>
                    <a:p>
                      <a:pPr marL="0" lvl="0" indent="0" algn="ctr" rtl="0">
                        <a:spcBef>
                          <a:spcPts val="0"/>
                        </a:spcBef>
                        <a:spcAft>
                          <a:spcPts val="0"/>
                        </a:spcAft>
                        <a:buNone/>
                      </a:pPr>
                      <a:r>
                        <a:rPr lang="fr-CA" sz="1800" b="1"/>
                        <a:t>Causalité</a:t>
                      </a:r>
                      <a:endParaRPr sz="1800" b="1"/>
                    </a:p>
                  </a:txBody>
                  <a:tcPr marL="91425" marR="91425" marT="91425" marB="91425">
                    <a:solidFill>
                      <a:srgbClr val="D9D9D9"/>
                    </a:solidFill>
                  </a:tcPr>
                </a:tc>
                <a:extLst>
                  <a:ext uri="{0D108BD9-81ED-4DB2-BD59-A6C34878D82A}">
                    <a16:rowId xmlns:a16="http://schemas.microsoft.com/office/drawing/2014/main" val="10000"/>
                  </a:ext>
                </a:extLst>
              </a:tr>
              <a:tr h="1702100">
                <a:tc>
                  <a:txBody>
                    <a:bodyPr/>
                    <a:lstStyle/>
                    <a:p>
                      <a:pPr marL="0" lvl="0" indent="0" algn="l" rtl="0">
                        <a:spcBef>
                          <a:spcPts val="0"/>
                        </a:spcBef>
                        <a:spcAft>
                          <a:spcPts val="0"/>
                        </a:spcAft>
                        <a:buNone/>
                      </a:pPr>
                      <a:r>
                        <a:rPr lang="fr-CA" sz="1600"/>
                        <a:t>Un choix difficile parce que les deux options sont négatives</a:t>
                      </a:r>
                      <a:endParaRPr sz="1600"/>
                    </a:p>
                  </a:txBody>
                  <a:tcPr marL="91425" marR="91425" marT="91425" marB="91425"/>
                </a:tc>
                <a:tc>
                  <a:txBody>
                    <a:bodyPr/>
                    <a:lstStyle/>
                    <a:p>
                      <a:pPr marL="0" lvl="0" indent="0" algn="l" rtl="0">
                        <a:spcBef>
                          <a:spcPts val="0"/>
                        </a:spcBef>
                        <a:spcAft>
                          <a:spcPts val="0"/>
                        </a:spcAft>
                        <a:buNone/>
                      </a:pPr>
                      <a:r>
                        <a:rPr lang="fr-CA" sz="1600"/>
                        <a:t>Sorte de comparaison</a:t>
                      </a:r>
                      <a:endParaRPr sz="1600"/>
                    </a:p>
                  </a:txBody>
                  <a:tcPr marL="91425" marR="91425" marT="91425" marB="91425"/>
                </a:tc>
                <a:tc>
                  <a:txBody>
                    <a:bodyPr/>
                    <a:lstStyle/>
                    <a:p>
                      <a:pPr marL="0" lvl="0" indent="0" algn="l" rtl="0">
                        <a:spcBef>
                          <a:spcPts val="0"/>
                        </a:spcBef>
                        <a:spcAft>
                          <a:spcPts val="0"/>
                        </a:spcAft>
                        <a:buNone/>
                      </a:pPr>
                      <a:r>
                        <a:rPr lang="fr-CA" sz="1600"/>
                        <a:t>Événement 1 (cause) → Événement 2 (conséquence)</a:t>
                      </a:r>
                      <a:endParaRPr sz="1600"/>
                    </a:p>
                  </a:txBody>
                  <a:tcPr marL="91425" marR="91425" marT="91425" marB="91425"/>
                </a:tc>
                <a:extLst>
                  <a:ext uri="{0D108BD9-81ED-4DB2-BD59-A6C34878D82A}">
                    <a16:rowId xmlns:a16="http://schemas.microsoft.com/office/drawing/2014/main" val="10001"/>
                  </a:ext>
                </a:extLst>
              </a:tr>
              <a:tr h="819475">
                <a:tc>
                  <a:txBody>
                    <a:bodyPr/>
                    <a:lstStyle/>
                    <a:p>
                      <a:pPr marL="0" lvl="0" indent="0" algn="ctr" rtl="0">
                        <a:spcBef>
                          <a:spcPts val="0"/>
                        </a:spcBef>
                        <a:spcAft>
                          <a:spcPts val="0"/>
                        </a:spcAft>
                        <a:buNone/>
                      </a:pPr>
                      <a:r>
                        <a:rPr lang="fr-CA" sz="1800" b="1"/>
                        <a:t>Faux dilemme</a:t>
                      </a:r>
                      <a:endParaRPr sz="1800" b="1"/>
                    </a:p>
                  </a:txBody>
                  <a:tcPr marL="91425" marR="91425" marT="91425" marB="91425">
                    <a:solidFill>
                      <a:srgbClr val="D9D9D9"/>
                    </a:solidFill>
                  </a:tcPr>
                </a:tc>
                <a:tc>
                  <a:txBody>
                    <a:bodyPr/>
                    <a:lstStyle/>
                    <a:p>
                      <a:pPr marL="0" lvl="0" indent="0" algn="ctr" rtl="0">
                        <a:spcBef>
                          <a:spcPts val="0"/>
                        </a:spcBef>
                        <a:spcAft>
                          <a:spcPts val="0"/>
                        </a:spcAft>
                        <a:buNone/>
                      </a:pPr>
                      <a:r>
                        <a:rPr lang="fr-CA" sz="1800" b="1"/>
                        <a:t>Fausse analogie</a:t>
                      </a:r>
                      <a:endParaRPr sz="1800" b="1"/>
                    </a:p>
                  </a:txBody>
                  <a:tcPr marL="91425" marR="91425" marT="91425" marB="91425">
                    <a:solidFill>
                      <a:srgbClr val="D9D9D9"/>
                    </a:solidFill>
                  </a:tcPr>
                </a:tc>
                <a:tc>
                  <a:txBody>
                    <a:bodyPr/>
                    <a:lstStyle/>
                    <a:p>
                      <a:pPr marL="0" lvl="0" indent="0" algn="ctr" rtl="0">
                        <a:spcBef>
                          <a:spcPts val="0"/>
                        </a:spcBef>
                        <a:spcAft>
                          <a:spcPts val="0"/>
                        </a:spcAft>
                        <a:buNone/>
                      </a:pPr>
                      <a:r>
                        <a:rPr lang="fr-CA" sz="1800" b="1"/>
                        <a:t>Fausse causalité</a:t>
                      </a:r>
                      <a:endParaRPr sz="1800" b="1"/>
                    </a:p>
                  </a:txBody>
                  <a:tcPr marL="91425" marR="91425" marT="91425" marB="91425">
                    <a:solidFill>
                      <a:srgbClr val="D9D9D9"/>
                    </a:solidFill>
                  </a:tcPr>
                </a:tc>
                <a:extLst>
                  <a:ext uri="{0D108BD9-81ED-4DB2-BD59-A6C34878D82A}">
                    <a16:rowId xmlns:a16="http://schemas.microsoft.com/office/drawing/2014/main" val="10002"/>
                  </a:ext>
                </a:extLst>
              </a:tr>
              <a:tr h="819475">
                <a:tc>
                  <a:txBody>
                    <a:bodyPr/>
                    <a:lstStyle/>
                    <a:p>
                      <a:pPr marL="0" lvl="0" indent="0" algn="l" rtl="0">
                        <a:spcBef>
                          <a:spcPts val="0"/>
                        </a:spcBef>
                        <a:spcAft>
                          <a:spcPts val="0"/>
                        </a:spcAft>
                        <a:buNone/>
                      </a:pPr>
                      <a:r>
                        <a:rPr lang="fr-CA" sz="1600"/>
                        <a:t>Il n’y a pas que deux choix</a:t>
                      </a:r>
                      <a:endParaRPr sz="1600"/>
                    </a:p>
                  </a:txBody>
                  <a:tcPr marL="91425" marR="91425" marT="91425" marB="91425"/>
                </a:tc>
                <a:tc>
                  <a:txBody>
                    <a:bodyPr/>
                    <a:lstStyle/>
                    <a:p>
                      <a:pPr marL="0" lvl="0" indent="0" algn="l" rtl="0">
                        <a:spcBef>
                          <a:spcPts val="0"/>
                        </a:spcBef>
                        <a:spcAft>
                          <a:spcPts val="0"/>
                        </a:spcAft>
                        <a:buNone/>
                      </a:pPr>
                      <a:r>
                        <a:rPr lang="fr-CA" sz="1600"/>
                        <a:t>Les deux situations ne se comparent pas</a:t>
                      </a:r>
                      <a:endParaRPr sz="1600"/>
                    </a:p>
                  </a:txBody>
                  <a:tcPr marL="91425" marR="91425" marT="91425" marB="91425"/>
                </a:tc>
                <a:tc>
                  <a:txBody>
                    <a:bodyPr/>
                    <a:lstStyle/>
                    <a:p>
                      <a:pPr marL="0" lvl="0" indent="0" algn="l" rtl="0">
                        <a:spcBef>
                          <a:spcPts val="0"/>
                        </a:spcBef>
                        <a:spcAft>
                          <a:spcPts val="0"/>
                        </a:spcAft>
                        <a:buNone/>
                      </a:pPr>
                      <a:r>
                        <a:rPr lang="fr-CA" sz="1600"/>
                        <a:t>Il n’y a pas vraiment de lien entre les deux événements</a:t>
                      </a:r>
                      <a:endParaRPr sz="160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4"/>
          <p:cNvSpPr txBox="1">
            <a:spLocks noGrp="1"/>
          </p:cNvSpPr>
          <p:nvPr>
            <p:ph type="title"/>
          </p:nvPr>
        </p:nvSpPr>
        <p:spPr>
          <a:xfrm>
            <a:off x="490250" y="450150"/>
            <a:ext cx="8366400" cy="4090800"/>
          </a:xfrm>
          <a:prstGeom prst="rect">
            <a:avLst/>
          </a:prstGeom>
        </p:spPr>
        <p:txBody>
          <a:bodyPr spcFirstLastPara="1" wrap="square" lIns="91425" tIns="91425" rIns="91425" bIns="91425" anchor="ctr" anchorCtr="0">
            <a:normAutofit/>
          </a:bodyPr>
          <a:lstStyle/>
          <a:p>
            <a:pPr marL="457200" lvl="0" indent="-533400" algn="l" rtl="0">
              <a:spcBef>
                <a:spcPts val="0"/>
              </a:spcBef>
              <a:spcAft>
                <a:spcPts val="0"/>
              </a:spcAft>
              <a:buSzPts val="4800"/>
              <a:buChar char="-"/>
            </a:pPr>
            <a:r>
              <a:rPr lang="fr-CA"/>
              <a:t>Une fourchette à des dents</a:t>
            </a:r>
            <a:endParaRPr/>
          </a:p>
          <a:p>
            <a:pPr marL="457200" lvl="0" indent="-533400" algn="l" rtl="0">
              <a:spcBef>
                <a:spcPts val="0"/>
              </a:spcBef>
              <a:spcAft>
                <a:spcPts val="0"/>
              </a:spcAft>
              <a:buSzPts val="4800"/>
              <a:buChar char="-"/>
            </a:pPr>
            <a:r>
              <a:rPr lang="fr-CA"/>
              <a:t>Tu as des dents</a:t>
            </a:r>
            <a:endParaRPr/>
          </a:p>
          <a:p>
            <a:pPr marL="457200" lvl="0" indent="-533400" algn="l" rtl="0">
              <a:spcBef>
                <a:spcPts val="0"/>
              </a:spcBef>
              <a:spcAft>
                <a:spcPts val="0"/>
              </a:spcAft>
              <a:buSzPts val="4800"/>
              <a:buChar char="-"/>
            </a:pPr>
            <a:r>
              <a:rPr lang="fr-CA"/>
              <a:t>Ça ne veut pas dire que tu es une fourchette</a:t>
            </a:r>
            <a:endParaRPr/>
          </a:p>
        </p:txBody>
      </p:sp>
      <p:pic>
        <p:nvPicPr>
          <p:cNvPr id="217" name="Google Shape;217;p34"/>
          <p:cNvPicPr preferRelativeResize="0"/>
          <p:nvPr/>
        </p:nvPicPr>
        <p:blipFill>
          <a:blip r:embed="rId3">
            <a:alphaModFix/>
          </a:blip>
          <a:stretch>
            <a:fillRect/>
          </a:stretch>
        </p:blipFill>
        <p:spPr>
          <a:xfrm>
            <a:off x="6350650" y="129175"/>
            <a:ext cx="2506000" cy="250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5"/>
          <p:cNvSpPr txBox="1">
            <a:spLocks noGrp="1"/>
          </p:cNvSpPr>
          <p:nvPr>
            <p:ph type="title"/>
          </p:nvPr>
        </p:nvSpPr>
        <p:spPr>
          <a:xfrm>
            <a:off x="265500" y="192575"/>
            <a:ext cx="4045200" cy="8907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14. Pente fatale</a:t>
            </a:r>
            <a:endParaRPr/>
          </a:p>
        </p:txBody>
      </p:sp>
      <p:sp>
        <p:nvSpPr>
          <p:cNvPr id="223" name="Google Shape;223;p35"/>
          <p:cNvSpPr txBox="1">
            <a:spLocks noGrp="1"/>
          </p:cNvSpPr>
          <p:nvPr>
            <p:ph type="subTitle" idx="1"/>
          </p:nvPr>
        </p:nvSpPr>
        <p:spPr>
          <a:xfrm>
            <a:off x="265500" y="276900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Si tu manges un dessert tous les jours, tu vas finir par devenir obèse et développer des problèmes de santé graves</a:t>
            </a:r>
            <a:endParaRPr/>
          </a:p>
        </p:txBody>
      </p:sp>
      <p:sp>
        <p:nvSpPr>
          <p:cNvPr id="224" name="Google Shape;224;p35"/>
          <p:cNvSpPr txBox="1">
            <a:spLocks noGrp="1"/>
          </p:cNvSpPr>
          <p:nvPr>
            <p:ph type="body" idx="2"/>
          </p:nvPr>
        </p:nvSpPr>
        <p:spPr>
          <a:xfrm>
            <a:off x="4974725" y="324925"/>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affirmer qu’</a:t>
            </a:r>
            <a:r>
              <a:rPr lang="fr-CA">
                <a:highlight>
                  <a:srgbClr val="00FF00"/>
                </a:highlight>
              </a:rPr>
              <a:t>une action entraînera une situation épouvantable</a:t>
            </a:r>
            <a:r>
              <a:rPr lang="fr-CA"/>
              <a:t> en raison d’un enchaînement de causes et d’effets qui, après examen, se révèle douteux, voire impossible</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Appel à l’émotion qui </a:t>
            </a:r>
            <a:r>
              <a:rPr lang="fr-CA">
                <a:highlight>
                  <a:srgbClr val="00FF00"/>
                </a:highlight>
              </a:rPr>
              <a:t>s’appuie sur la peur</a:t>
            </a:r>
            <a:endParaRPr>
              <a:highlight>
                <a:srgbClr val="00FF00"/>
              </a:highlight>
            </a:endParaRPr>
          </a:p>
        </p:txBody>
      </p:sp>
      <p:sp>
        <p:nvSpPr>
          <p:cNvPr id="225" name="Google Shape;225;p35"/>
          <p:cNvSpPr/>
          <p:nvPr/>
        </p:nvSpPr>
        <p:spPr>
          <a:xfrm>
            <a:off x="354650" y="1096800"/>
            <a:ext cx="4045248" cy="1474956"/>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CA" sz="1800">
                <a:latin typeface="Open Sans"/>
                <a:ea typeface="Open Sans"/>
                <a:cs typeface="Open Sans"/>
                <a:sym typeface="Open Sans"/>
              </a:rPr>
              <a:t>C’est une </a:t>
            </a:r>
            <a:r>
              <a:rPr lang="fr-CA" sz="1800">
                <a:highlight>
                  <a:srgbClr val="00FF00"/>
                </a:highlight>
                <a:latin typeface="Open Sans"/>
                <a:ea typeface="Open Sans"/>
                <a:cs typeface="Open Sans"/>
                <a:sym typeface="Open Sans"/>
              </a:rPr>
              <a:t>exagération </a:t>
            </a:r>
            <a:r>
              <a:rPr lang="fr-CA" sz="1800">
                <a:latin typeface="Open Sans"/>
                <a:ea typeface="Open Sans"/>
                <a:cs typeface="Open Sans"/>
                <a:sym typeface="Open Sans"/>
              </a:rPr>
              <a:t>qui mène à une catastrophe</a:t>
            </a:r>
            <a:endParaRPr sz="1800">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6"/>
          <p:cNvSpPr txBox="1">
            <a:spLocks noGrp="1"/>
          </p:cNvSpPr>
          <p:nvPr>
            <p:ph type="title"/>
          </p:nvPr>
        </p:nvSpPr>
        <p:spPr>
          <a:xfrm>
            <a:off x="265500" y="122125"/>
            <a:ext cx="4045200" cy="9258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15. Caricature</a:t>
            </a:r>
            <a:endParaRPr/>
          </a:p>
        </p:txBody>
      </p:sp>
      <p:sp>
        <p:nvSpPr>
          <p:cNvPr id="231" name="Google Shape;231;p36"/>
          <p:cNvSpPr txBox="1">
            <a:spLocks noGrp="1"/>
          </p:cNvSpPr>
          <p:nvPr>
            <p:ph type="subTitle" idx="1"/>
          </p:nvPr>
        </p:nvSpPr>
        <p:spPr>
          <a:xfrm>
            <a:off x="265500" y="2134850"/>
            <a:ext cx="4045200" cy="183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William dit que les automobiles sont la source la plus importante de gaz à effet de serre. Julien lui répond qu’à l’écouter, on devrait se débarrasser de sa voiture et se déplacer à dos d’âne</a:t>
            </a:r>
            <a:endParaRPr/>
          </a:p>
        </p:txBody>
      </p:sp>
      <p:sp>
        <p:nvSpPr>
          <p:cNvPr id="232" name="Google Shape;232;p36"/>
          <p:cNvSpPr txBox="1">
            <a:spLocks noGrp="1"/>
          </p:cNvSpPr>
          <p:nvPr>
            <p:ph type="body" idx="2"/>
          </p:nvPr>
        </p:nvSpPr>
        <p:spPr>
          <a:xfrm>
            <a:off x="4699600" y="122125"/>
            <a:ext cx="4285200" cy="42972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t>
            </a:r>
            <a:r>
              <a:rPr lang="fr-CA">
                <a:highlight>
                  <a:srgbClr val="00FF00"/>
                </a:highlight>
              </a:rPr>
              <a:t>déformer la position ou la pensée de quelqu’un</a:t>
            </a:r>
            <a:r>
              <a:rPr lang="fr-CA"/>
              <a:t>, notamment en la radicalisant ou </a:t>
            </a:r>
            <a:r>
              <a:rPr lang="fr-CA">
                <a:highlight>
                  <a:srgbClr val="00FF00"/>
                </a:highlight>
              </a:rPr>
              <a:t>en la simplifiant afin de la rendre non-crédible</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En </a:t>
            </a:r>
            <a:r>
              <a:rPr lang="fr-CA">
                <a:highlight>
                  <a:srgbClr val="00FF00"/>
                </a:highlight>
              </a:rPr>
              <a:t>exagérant, déformant ou carrément en inventant de toutes pièces l’argument d’autrui</a:t>
            </a:r>
            <a:r>
              <a:rPr lang="fr-CA"/>
              <a:t>, il est bien plus facile de présenter sa propre position comme raisonnable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7"/>
          <p:cNvSpPr txBox="1">
            <a:spLocks noGrp="1"/>
          </p:cNvSpPr>
          <p:nvPr>
            <p:ph type="title"/>
          </p:nvPr>
        </p:nvSpPr>
        <p:spPr>
          <a:xfrm>
            <a:off x="265500" y="180825"/>
            <a:ext cx="4045200" cy="87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16. Appel aux émotions</a:t>
            </a:r>
            <a:endParaRPr/>
          </a:p>
        </p:txBody>
      </p:sp>
      <p:sp>
        <p:nvSpPr>
          <p:cNvPr id="238" name="Google Shape;238;p37"/>
          <p:cNvSpPr txBox="1">
            <a:spLocks noGrp="1"/>
          </p:cNvSpPr>
          <p:nvPr>
            <p:ph type="subTitle" idx="1"/>
          </p:nvPr>
        </p:nvSpPr>
        <p:spPr>
          <a:xfrm>
            <a:off x="265500" y="2134876"/>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Mange ton repas, il y a plein de personnes autour du monde qui meurent de faim et qui seraient contents de le manger</a:t>
            </a:r>
            <a:endParaRPr/>
          </a:p>
        </p:txBody>
      </p:sp>
      <p:sp>
        <p:nvSpPr>
          <p:cNvPr id="239" name="Google Shape;239;p37"/>
          <p:cNvSpPr txBox="1">
            <a:spLocks noGrp="1"/>
          </p:cNvSpPr>
          <p:nvPr>
            <p:ph type="body" idx="2"/>
          </p:nvPr>
        </p:nvSpPr>
        <p:spPr>
          <a:xfrm>
            <a:off x="4664375" y="-147975"/>
            <a:ext cx="4403700" cy="52374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détourner l’attention vers des réalités d’ordre affectif sans lien avec l’objet du débat</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Nos sentiments font partis de nous et orientent nos pensées. On a tendance à déterminer des choses qui sont plus importantes, qui ont plus de valeurs sur la base de nos émotions</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C’est </a:t>
            </a:r>
            <a:r>
              <a:rPr lang="fr-CA">
                <a:highlight>
                  <a:srgbClr val="00FF00"/>
                </a:highlight>
              </a:rPr>
              <a:t>utiliser du chantage émotif pour convaincre</a:t>
            </a:r>
            <a:endParaRPr>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8"/>
          <p:cNvSpPr txBox="1">
            <a:spLocks noGrp="1"/>
          </p:cNvSpPr>
          <p:nvPr>
            <p:ph type="title"/>
          </p:nvPr>
        </p:nvSpPr>
        <p:spPr>
          <a:xfrm>
            <a:off x="265500" y="227800"/>
            <a:ext cx="4045200" cy="8907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17. Complot</a:t>
            </a:r>
            <a:endParaRPr/>
          </a:p>
        </p:txBody>
      </p:sp>
      <p:sp>
        <p:nvSpPr>
          <p:cNvPr id="245" name="Google Shape;245;p38"/>
          <p:cNvSpPr txBox="1">
            <a:spLocks noGrp="1"/>
          </p:cNvSpPr>
          <p:nvPr>
            <p:ph type="subTitle" idx="1"/>
          </p:nvPr>
        </p:nvSpPr>
        <p:spPr>
          <a:xfrm>
            <a:off x="265500" y="1218901"/>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Bien sûr, tu soutiens la vaccination, mais n'est-ce pas exactement ce que les grandes compagnies pharmaceutiques veulent que tu crois ?</a:t>
            </a:r>
            <a:endParaRPr/>
          </a:p>
        </p:txBody>
      </p:sp>
      <p:sp>
        <p:nvSpPr>
          <p:cNvPr id="246" name="Google Shape;246;p38"/>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t>
            </a:r>
            <a:r>
              <a:rPr lang="fr-CA">
                <a:highlight>
                  <a:srgbClr val="00FF00"/>
                </a:highlight>
              </a:rPr>
              <a:t>conclure qu’une personne ou un groupe de personnes qui profitent d’une situation en sont l’origine et la cause</a:t>
            </a:r>
            <a:endParaRPr>
              <a:highlight>
                <a:srgbClr val="00FF00"/>
              </a:highlight>
            </a:endParaRPr>
          </a:p>
        </p:txBody>
      </p:sp>
      <p:sp>
        <p:nvSpPr>
          <p:cNvPr id="247" name="Google Shape;247;p38"/>
          <p:cNvSpPr txBox="1">
            <a:spLocks noGrp="1"/>
          </p:cNvSpPr>
          <p:nvPr>
            <p:ph type="subTitle" idx="1"/>
          </p:nvPr>
        </p:nvSpPr>
        <p:spPr>
          <a:xfrm>
            <a:off x="265500" y="2968376"/>
            <a:ext cx="4045200" cy="1574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CA"/>
              <a:t>Tu dis que le changement climatique est un problème sérieux, mais cela ne ressemble-t-il pas à une manœuvre des gouvernements pour contrôler nos vies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9"/>
          <p:cNvSpPr txBox="1">
            <a:spLocks noGrp="1"/>
          </p:cNvSpPr>
          <p:nvPr>
            <p:ph type="title"/>
          </p:nvPr>
        </p:nvSpPr>
        <p:spPr>
          <a:xfrm>
            <a:off x="265500" y="216050"/>
            <a:ext cx="4045200" cy="8907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18. Appel à la nature</a:t>
            </a:r>
            <a:endParaRPr/>
          </a:p>
        </p:txBody>
      </p:sp>
      <p:sp>
        <p:nvSpPr>
          <p:cNvPr id="253" name="Google Shape;253;p39"/>
          <p:cNvSpPr txBox="1">
            <a:spLocks noGrp="1"/>
          </p:cNvSpPr>
          <p:nvPr>
            <p:ph type="subTitle" idx="1"/>
          </p:nvPr>
        </p:nvSpPr>
        <p:spPr>
          <a:xfrm>
            <a:off x="265500" y="1230651"/>
            <a:ext cx="4045200" cy="15741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Manger des aliments biologiques est meilleur pour la santé, car c'est la manière naturelle de se nourrir, comme nos ancêtres le faisaient</a:t>
            </a:r>
            <a:endParaRPr/>
          </a:p>
        </p:txBody>
      </p:sp>
      <p:sp>
        <p:nvSpPr>
          <p:cNvPr id="254" name="Google Shape;254;p39"/>
          <p:cNvSpPr txBox="1">
            <a:spLocks noGrp="1"/>
          </p:cNvSpPr>
          <p:nvPr>
            <p:ph type="body" idx="2"/>
          </p:nvPr>
        </p:nvSpPr>
        <p:spPr>
          <a:xfrm>
            <a:off x="4734850" y="75150"/>
            <a:ext cx="4321500" cy="43443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Consiste à </a:t>
            </a:r>
            <a:r>
              <a:rPr lang="fr-CA">
                <a:highlight>
                  <a:srgbClr val="00FF00"/>
                </a:highlight>
              </a:rPr>
              <a:t>faire appel à la nature pour justifier une croyance</a:t>
            </a:r>
            <a:endParaRPr>
              <a:highlight>
                <a:srgbClr val="00FF00"/>
              </a:highlight>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Considérer que les éléments, les situations ou les comportements sont bons ou meilleurs parce qu’ils se font ainsi dans la nature ou parce qu’ils proviennent de la nature</a:t>
            </a:r>
            <a:endParaRPr/>
          </a:p>
        </p:txBody>
      </p:sp>
      <p:sp>
        <p:nvSpPr>
          <p:cNvPr id="255" name="Google Shape;255;p39"/>
          <p:cNvSpPr txBox="1">
            <a:spLocks noGrp="1"/>
          </p:cNvSpPr>
          <p:nvPr>
            <p:ph type="subTitle" idx="1"/>
          </p:nvPr>
        </p:nvSpPr>
        <p:spPr>
          <a:xfrm>
            <a:off x="265500" y="3555525"/>
            <a:ext cx="4045200" cy="9819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L’homosexualité est contre nature, ça ne devrait donc pas exister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0"/>
          <p:cNvSpPr txBox="1"/>
          <p:nvPr/>
        </p:nvSpPr>
        <p:spPr>
          <a:xfrm>
            <a:off x="2350" y="16450"/>
            <a:ext cx="9288900" cy="52728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sp>
        <p:nvSpPr>
          <p:cNvPr id="261" name="Google Shape;261;p40"/>
          <p:cNvSpPr txBox="1"/>
          <p:nvPr/>
        </p:nvSpPr>
        <p:spPr>
          <a:xfrm>
            <a:off x="2315775" y="2118475"/>
            <a:ext cx="4709100" cy="278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CA" sz="3000" b="1">
                <a:solidFill>
                  <a:schemeClr val="dk1"/>
                </a:solidFill>
                <a:latin typeface="Open Sans"/>
                <a:ea typeface="Open Sans"/>
                <a:cs typeface="Open Sans"/>
                <a:sym typeface="Open Sans"/>
              </a:rPr>
              <a:t>Activité 2</a:t>
            </a:r>
            <a:endParaRPr sz="3000" b="1">
              <a:solidFill>
                <a:schemeClr val="dk1"/>
              </a:solidFill>
              <a:latin typeface="Open Sans"/>
              <a:ea typeface="Open Sans"/>
              <a:cs typeface="Open Sans"/>
              <a:sym typeface="Open Sans"/>
            </a:endParaRPr>
          </a:p>
          <a:p>
            <a:pPr marL="457200" lvl="0" indent="-419100" algn="ctr" rtl="0">
              <a:spcBef>
                <a:spcPts val="0"/>
              </a:spcBef>
              <a:spcAft>
                <a:spcPts val="0"/>
              </a:spcAft>
              <a:buClr>
                <a:schemeClr val="dk1"/>
              </a:buClr>
              <a:buSzPts val="3000"/>
              <a:buFont typeface="Open Sans"/>
              <a:buChar char="-"/>
            </a:pPr>
            <a:r>
              <a:rPr lang="fr-CA" sz="3000" b="1">
                <a:solidFill>
                  <a:schemeClr val="dk1"/>
                </a:solidFill>
                <a:latin typeface="Open Sans"/>
                <a:ea typeface="Open Sans"/>
                <a:cs typeface="Open Sans"/>
                <a:sym typeface="Open Sans"/>
              </a:rPr>
              <a:t> </a:t>
            </a:r>
            <a:endParaRPr sz="3000" b="1">
              <a:solidFill>
                <a:schemeClr val="dk1"/>
              </a:solidFill>
              <a:latin typeface="Open Sans"/>
              <a:ea typeface="Open Sans"/>
              <a:cs typeface="Open Sans"/>
              <a:sym typeface="Open Sans"/>
            </a:endParaRPr>
          </a:p>
          <a:p>
            <a:pPr marL="0" lvl="0" indent="0" algn="ctr" rtl="0">
              <a:spcBef>
                <a:spcPts val="0"/>
              </a:spcBef>
              <a:spcAft>
                <a:spcPts val="0"/>
              </a:spcAft>
              <a:buNone/>
            </a:pPr>
            <a:r>
              <a:rPr lang="fr-CA" sz="3000" b="1">
                <a:solidFill>
                  <a:srgbClr val="1D254F"/>
                </a:solidFill>
                <a:latin typeface="Nunito"/>
                <a:ea typeface="Nunito"/>
                <a:cs typeface="Nunito"/>
                <a:sym typeface="Nunito"/>
              </a:rPr>
              <a:t>Associe les affirmations aux erreurs de raisonnement</a:t>
            </a:r>
            <a:endParaRPr sz="3000" b="1">
              <a:solidFill>
                <a:schemeClr val="dk1"/>
              </a:solidFill>
              <a:latin typeface="Open Sans"/>
              <a:ea typeface="Open Sans"/>
              <a:cs typeface="Open Sans"/>
              <a:sym typeface="Open Sans"/>
            </a:endParaRPr>
          </a:p>
          <a:p>
            <a:pPr marL="0" lvl="0" indent="0" algn="l" rtl="0">
              <a:spcBef>
                <a:spcPts val="0"/>
              </a:spcBef>
              <a:spcAft>
                <a:spcPts val="0"/>
              </a:spcAft>
              <a:buNone/>
            </a:pPr>
            <a:endParaRPr sz="1800" b="1">
              <a:solidFill>
                <a:schemeClr val="dk1"/>
              </a:solidFill>
              <a:latin typeface="Open Sans"/>
              <a:ea typeface="Open Sans"/>
              <a:cs typeface="Open Sans"/>
              <a:sym typeface="Open Sans"/>
            </a:endParaRPr>
          </a:p>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pic>
        <p:nvPicPr>
          <p:cNvPr id="262" name="Google Shape;262;p40"/>
          <p:cNvPicPr preferRelativeResize="0"/>
          <p:nvPr/>
        </p:nvPicPr>
        <p:blipFill>
          <a:blip r:embed="rId3">
            <a:alphaModFix/>
          </a:blip>
          <a:stretch>
            <a:fillRect/>
          </a:stretch>
        </p:blipFill>
        <p:spPr>
          <a:xfrm>
            <a:off x="74800" y="139518"/>
            <a:ext cx="9144001" cy="167031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1"/>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latin typeface="Open Sans"/>
                <a:ea typeface="Open Sans"/>
                <a:cs typeface="Open Sans"/>
                <a:sym typeface="Open Sans"/>
              </a:rPr>
              <a:t>Les biais cognitifs</a:t>
            </a:r>
            <a:endParaRPr>
              <a:latin typeface="Open Sans"/>
              <a:ea typeface="Open Sans"/>
              <a:cs typeface="Open Sans"/>
              <a:sym typeface="Open Sans"/>
            </a:endParaRPr>
          </a:p>
        </p:txBody>
      </p:sp>
      <p:sp>
        <p:nvSpPr>
          <p:cNvPr id="268" name="Google Shape;268;p41"/>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2"/>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latin typeface="Open Sans"/>
                <a:ea typeface="Open Sans"/>
                <a:cs typeface="Open Sans"/>
                <a:sym typeface="Open Sans"/>
              </a:rPr>
              <a:t>Définition</a:t>
            </a:r>
            <a:endParaRPr>
              <a:latin typeface="Open Sans"/>
              <a:ea typeface="Open Sans"/>
              <a:cs typeface="Open Sans"/>
              <a:sym typeface="Open Sans"/>
            </a:endParaRPr>
          </a:p>
        </p:txBody>
      </p:sp>
      <p:sp>
        <p:nvSpPr>
          <p:cNvPr id="274" name="Google Shape;274;p42"/>
          <p:cNvSpPr txBox="1">
            <a:spLocks noGrp="1"/>
          </p:cNvSpPr>
          <p:nvPr>
            <p:ph type="body" idx="1"/>
          </p:nvPr>
        </p:nvSpPr>
        <p:spPr>
          <a:xfrm>
            <a:off x="127200" y="831300"/>
            <a:ext cx="8889600" cy="42393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fr-CA"/>
              <a:t>Erreur de jugement </a:t>
            </a:r>
            <a:r>
              <a:rPr lang="fr-CA">
                <a:highlight>
                  <a:srgbClr val="00FF00"/>
                </a:highlight>
              </a:rPr>
              <a:t>prévisible </a:t>
            </a:r>
            <a:r>
              <a:rPr lang="fr-CA"/>
              <a:t>et systématique qui se produit lorsqu’il faut interpréter et gérer l’information qui provient de l’environnement et qui ne passe pas par un raisonnement analytique</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fr-CA"/>
              <a:t>En gros, c’est une </a:t>
            </a:r>
            <a:r>
              <a:rPr lang="fr-CA">
                <a:highlight>
                  <a:srgbClr val="00FF00"/>
                </a:highlight>
              </a:rPr>
              <a:t>erreur courante</a:t>
            </a:r>
            <a:r>
              <a:rPr lang="fr-CA"/>
              <a:t> qui arrive quand on gère/interprète des informations </a:t>
            </a:r>
            <a:r>
              <a:rPr lang="fr-CA">
                <a:highlight>
                  <a:srgbClr val="00FF00"/>
                </a:highlight>
              </a:rPr>
              <a:t>sans utiliser une réflexion logique</a:t>
            </a:r>
            <a:r>
              <a:rPr lang="fr-CA"/>
              <a:t> et approfondie</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fr-CA">
                <a:highlight>
                  <a:srgbClr val="00FF00"/>
                </a:highlight>
              </a:rPr>
              <a:t>Notre cerveau déforme la réalité quand on prend des décisions</a:t>
            </a:r>
            <a:r>
              <a:rPr lang="fr-CA"/>
              <a:t> ou qu’on pose un jugement</a:t>
            </a:r>
            <a:endParaRPr/>
          </a:p>
          <a:p>
            <a:pPr marL="457200" lvl="0" indent="0" algn="l" rtl="0">
              <a:spcBef>
                <a:spcPts val="0"/>
              </a:spcBef>
              <a:spcAft>
                <a:spcPts val="0"/>
              </a:spcAft>
              <a:buNone/>
            </a:pPr>
            <a:endParaRPr/>
          </a:p>
          <a:p>
            <a:pPr marL="457200" lvl="0" indent="-342900" algn="l" rtl="0">
              <a:spcBef>
                <a:spcPts val="0"/>
              </a:spcBef>
              <a:spcAft>
                <a:spcPts val="0"/>
              </a:spcAft>
              <a:buSzPts val="1800"/>
              <a:buChar char="-"/>
            </a:pPr>
            <a:r>
              <a:rPr lang="fr-CA"/>
              <a:t>Ce sont des </a:t>
            </a:r>
            <a:r>
              <a:rPr lang="fr-CA">
                <a:highlight>
                  <a:srgbClr val="00FF00"/>
                </a:highlight>
              </a:rPr>
              <a:t>raccourcis mentaux</a:t>
            </a:r>
            <a:r>
              <a:rPr lang="fr-CA"/>
              <a:t> qu'on utilise pour </a:t>
            </a:r>
            <a:r>
              <a:rPr lang="fr-CA">
                <a:highlight>
                  <a:srgbClr val="00FF00"/>
                </a:highlight>
              </a:rPr>
              <a:t>simplifier les informations complexes autour de nous, mais qui peuvent nous amener à faire des erreurs de jugement</a:t>
            </a:r>
            <a:r>
              <a:rPr lang="fr-CA"/>
              <a:t> ou à avoir des idées fausses.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latin typeface="Open Sans"/>
                <a:ea typeface="Open Sans"/>
                <a:cs typeface="Open Sans"/>
                <a:sym typeface="Open Sans"/>
              </a:rPr>
              <a:t>Les 7 biais cognitifs</a:t>
            </a:r>
            <a:endParaRPr>
              <a:latin typeface="Open Sans"/>
              <a:ea typeface="Open Sans"/>
              <a:cs typeface="Open Sans"/>
              <a:sym typeface="Open Sans"/>
            </a:endParaRPr>
          </a:p>
        </p:txBody>
      </p:sp>
      <p:sp>
        <p:nvSpPr>
          <p:cNvPr id="280" name="Google Shape;280;p4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fr-CA"/>
              <a:t>Biais de confirmation</a:t>
            </a:r>
            <a:endParaRPr/>
          </a:p>
          <a:p>
            <a:pPr marL="457200" lvl="0" indent="-342900" algn="l" rtl="0">
              <a:spcBef>
                <a:spcPts val="0"/>
              </a:spcBef>
              <a:spcAft>
                <a:spcPts val="0"/>
              </a:spcAft>
              <a:buSzPts val="1800"/>
              <a:buAutoNum type="arabicPeriod"/>
            </a:pPr>
            <a:r>
              <a:rPr lang="fr-CA"/>
              <a:t>Effet de répétition</a:t>
            </a:r>
            <a:endParaRPr/>
          </a:p>
          <a:p>
            <a:pPr marL="457200" lvl="0" indent="-342900" algn="l" rtl="0">
              <a:spcBef>
                <a:spcPts val="0"/>
              </a:spcBef>
              <a:spcAft>
                <a:spcPts val="0"/>
              </a:spcAft>
              <a:buSzPts val="1800"/>
              <a:buAutoNum type="arabicPeriod"/>
            </a:pPr>
            <a:r>
              <a:rPr lang="fr-CA"/>
              <a:t>Biais d’omission</a:t>
            </a:r>
            <a:endParaRPr/>
          </a:p>
          <a:p>
            <a:pPr marL="457200" lvl="0" indent="-342900" algn="l" rtl="0">
              <a:spcBef>
                <a:spcPts val="0"/>
              </a:spcBef>
              <a:spcAft>
                <a:spcPts val="0"/>
              </a:spcAft>
              <a:buSzPts val="1800"/>
              <a:buAutoNum type="arabicPeriod"/>
            </a:pPr>
            <a:r>
              <a:rPr lang="fr-CA"/>
              <a:t>Biais d’ancrage</a:t>
            </a:r>
            <a:endParaRPr/>
          </a:p>
          <a:p>
            <a:pPr marL="457200" lvl="0" indent="-342900" algn="l" rtl="0">
              <a:spcBef>
                <a:spcPts val="0"/>
              </a:spcBef>
              <a:spcAft>
                <a:spcPts val="0"/>
              </a:spcAft>
              <a:buSzPts val="1800"/>
              <a:buAutoNum type="arabicPeriod"/>
            </a:pPr>
            <a:r>
              <a:rPr lang="fr-CA"/>
              <a:t>Biais de désirabilité ou de conformisme</a:t>
            </a:r>
            <a:endParaRPr/>
          </a:p>
          <a:p>
            <a:pPr marL="457200" lvl="0" indent="-342900" algn="l" rtl="0">
              <a:spcBef>
                <a:spcPts val="0"/>
              </a:spcBef>
              <a:spcAft>
                <a:spcPts val="0"/>
              </a:spcAft>
              <a:buSzPts val="1800"/>
              <a:buAutoNum type="arabicPeriod"/>
            </a:pPr>
            <a:r>
              <a:rPr lang="fr-CA"/>
              <a:t>Biais d’essentialisme</a:t>
            </a:r>
            <a:endParaRPr/>
          </a:p>
          <a:p>
            <a:pPr marL="457200" lvl="0" indent="-342900" algn="l" rtl="0">
              <a:spcBef>
                <a:spcPts val="0"/>
              </a:spcBef>
              <a:spcAft>
                <a:spcPts val="0"/>
              </a:spcAft>
              <a:buSzPts val="1800"/>
              <a:buAutoNum type="arabicPeriod"/>
            </a:pPr>
            <a:r>
              <a:rPr lang="fr-CA"/>
              <a:t>Effet de halo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84"/>
        <p:cNvGrpSpPr/>
        <p:nvPr/>
      </p:nvGrpSpPr>
      <p:grpSpPr>
        <a:xfrm>
          <a:off x="0" y="0"/>
          <a:ext cx="0" cy="0"/>
          <a:chOff x="0" y="0"/>
          <a:chExt cx="0" cy="0"/>
        </a:xfrm>
      </p:grpSpPr>
      <p:sp>
        <p:nvSpPr>
          <p:cNvPr id="285" name="Google Shape;285;p4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latin typeface="Open Sans"/>
                <a:ea typeface="Open Sans"/>
                <a:cs typeface="Open Sans"/>
                <a:sym typeface="Open Sans"/>
              </a:rPr>
              <a:t>Les 7 biais</a:t>
            </a:r>
            <a:endParaRPr>
              <a:latin typeface="Open Sans"/>
              <a:ea typeface="Open Sans"/>
              <a:cs typeface="Open Sans"/>
              <a:sym typeface="Open Sans"/>
            </a:endParaRPr>
          </a:p>
        </p:txBody>
      </p:sp>
      <p:sp>
        <p:nvSpPr>
          <p:cNvPr id="286" name="Google Shape;286;p4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fr-CA"/>
              <a:t>Biais de confirmation</a:t>
            </a:r>
            <a:endParaRPr/>
          </a:p>
          <a:p>
            <a:pPr marL="457200" lvl="0" indent="-342900" algn="l" rtl="0">
              <a:spcBef>
                <a:spcPts val="0"/>
              </a:spcBef>
              <a:spcAft>
                <a:spcPts val="0"/>
              </a:spcAft>
              <a:buSzPts val="1800"/>
              <a:buAutoNum type="arabicPeriod"/>
            </a:pPr>
            <a:r>
              <a:rPr lang="fr-CA"/>
              <a:t>Effet de répétition</a:t>
            </a:r>
            <a:endParaRPr/>
          </a:p>
          <a:p>
            <a:pPr marL="457200" lvl="0" indent="-342900" algn="l" rtl="0">
              <a:spcBef>
                <a:spcPts val="0"/>
              </a:spcBef>
              <a:spcAft>
                <a:spcPts val="0"/>
              </a:spcAft>
              <a:buSzPts val="1800"/>
              <a:buAutoNum type="arabicPeriod"/>
            </a:pPr>
            <a:r>
              <a:rPr lang="fr-CA"/>
              <a:t>Biais d’omission</a:t>
            </a:r>
            <a:endParaRPr/>
          </a:p>
          <a:p>
            <a:pPr marL="457200" lvl="0" indent="-342900" algn="l" rtl="0">
              <a:spcBef>
                <a:spcPts val="0"/>
              </a:spcBef>
              <a:spcAft>
                <a:spcPts val="0"/>
              </a:spcAft>
              <a:buSzPts val="1800"/>
              <a:buAutoNum type="arabicPeriod"/>
            </a:pPr>
            <a:r>
              <a:rPr lang="fr-CA"/>
              <a:t>Biais d’ancrage</a:t>
            </a:r>
            <a:endParaRPr/>
          </a:p>
          <a:p>
            <a:pPr marL="457200" lvl="0" indent="-342900" algn="l" rtl="0">
              <a:spcBef>
                <a:spcPts val="0"/>
              </a:spcBef>
              <a:spcAft>
                <a:spcPts val="0"/>
              </a:spcAft>
              <a:buSzPts val="1800"/>
              <a:buAutoNum type="arabicPeriod"/>
            </a:pPr>
            <a:r>
              <a:rPr lang="fr-CA"/>
              <a:t>Biais de désirabilité sociale ou de conformisme</a:t>
            </a:r>
            <a:endParaRPr/>
          </a:p>
          <a:p>
            <a:pPr marL="457200" lvl="0" indent="-342900" algn="l" rtl="0">
              <a:spcBef>
                <a:spcPts val="0"/>
              </a:spcBef>
              <a:spcAft>
                <a:spcPts val="0"/>
              </a:spcAft>
              <a:buSzPts val="1800"/>
              <a:buAutoNum type="arabicPeriod"/>
            </a:pPr>
            <a:r>
              <a:rPr lang="fr-CA"/>
              <a:t>Biais d’essentialisme</a:t>
            </a:r>
            <a:endParaRPr/>
          </a:p>
          <a:p>
            <a:pPr marL="457200" lvl="0" indent="-342900" algn="l" rtl="0">
              <a:spcBef>
                <a:spcPts val="0"/>
              </a:spcBef>
              <a:spcAft>
                <a:spcPts val="0"/>
              </a:spcAft>
              <a:buSzPts val="1800"/>
              <a:buAutoNum type="arabicPeriod"/>
            </a:pPr>
            <a:r>
              <a:rPr lang="fr-CA"/>
              <a:t>Effet de halo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5"/>
          <p:cNvSpPr txBox="1">
            <a:spLocks noGrp="1"/>
          </p:cNvSpPr>
          <p:nvPr>
            <p:ph type="title"/>
          </p:nvPr>
        </p:nvSpPr>
        <p:spPr>
          <a:xfrm>
            <a:off x="265500" y="-174600"/>
            <a:ext cx="4045200" cy="1786200"/>
          </a:xfrm>
          <a:prstGeom prst="rect">
            <a:avLst/>
          </a:prstGeom>
        </p:spPr>
        <p:txBody>
          <a:bodyPr spcFirstLastPara="1" wrap="square" lIns="91425" tIns="91425" rIns="91425" bIns="91425" anchor="b" anchorCtr="0">
            <a:normAutofit/>
          </a:bodyPr>
          <a:lstStyle/>
          <a:p>
            <a:pPr marL="457200" lvl="0" indent="-495300" algn="ctr" rtl="0">
              <a:spcBef>
                <a:spcPts val="0"/>
              </a:spcBef>
              <a:spcAft>
                <a:spcPts val="0"/>
              </a:spcAft>
              <a:buSzPts val="4200"/>
              <a:buAutoNum type="arabicPeriod"/>
            </a:pPr>
            <a:r>
              <a:rPr lang="fr-CA"/>
              <a:t>Biais de confirmation</a:t>
            </a:r>
            <a:endParaRPr/>
          </a:p>
        </p:txBody>
      </p:sp>
      <p:sp>
        <p:nvSpPr>
          <p:cNvPr id="292" name="Google Shape;292;p45"/>
          <p:cNvSpPr txBox="1">
            <a:spLocks noGrp="1"/>
          </p:cNvSpPr>
          <p:nvPr>
            <p:ph type="subTitle" idx="1"/>
          </p:nvPr>
        </p:nvSpPr>
        <p:spPr>
          <a:xfrm>
            <a:off x="174300" y="1930575"/>
            <a:ext cx="4227600" cy="25953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Une personne qui croit fermement à une théorie conspirationniste va chercher des articles, des vidéos ou des posts qui confirment cette croyance et va ignorer ou rejeter les sources qui présentent des preuves contraires.</a:t>
            </a:r>
            <a:endParaRPr/>
          </a:p>
        </p:txBody>
      </p:sp>
      <p:sp>
        <p:nvSpPr>
          <p:cNvPr id="293" name="Google Shape;293;p45"/>
          <p:cNvSpPr txBox="1">
            <a:spLocks noGrp="1"/>
          </p:cNvSpPr>
          <p:nvPr>
            <p:ph type="body" idx="2"/>
          </p:nvPr>
        </p:nvSpPr>
        <p:spPr>
          <a:xfrm>
            <a:off x="4664375" y="-54000"/>
            <a:ext cx="4380300" cy="49557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Tendance très commune à ne pas rechercher et ne </a:t>
            </a:r>
            <a:r>
              <a:rPr lang="fr-CA">
                <a:highlight>
                  <a:srgbClr val="00FF00"/>
                </a:highlight>
              </a:rPr>
              <a:t>prendre en considération que les informations qui confirment les croyances</a:t>
            </a:r>
            <a:r>
              <a:rPr lang="fr-CA"/>
              <a:t> et à ignorer ou sous-estimer l’importance de celles qui les contredisent</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Tendance à </a:t>
            </a:r>
            <a:r>
              <a:rPr lang="fr-CA">
                <a:highlight>
                  <a:srgbClr val="00FF00"/>
                </a:highlight>
              </a:rPr>
              <a:t>croire davantage les informations qui confirment notre opinion</a:t>
            </a:r>
            <a:r>
              <a:rPr lang="fr-CA"/>
              <a:t> sans se remettre en question et envisager que notre idée n’est peut-être pas la meilleure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de biais de confirmation</a:t>
            </a:r>
            <a:endParaRPr/>
          </a:p>
        </p:txBody>
      </p:sp>
      <p:sp>
        <p:nvSpPr>
          <p:cNvPr id="299" name="Google Shape;299;p4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fr-CA" sz="2200">
                <a:latin typeface="Montserrat"/>
                <a:ea typeface="Montserrat"/>
                <a:cs typeface="Montserrat"/>
                <a:sym typeface="Montserrat"/>
              </a:rPr>
              <a:t>Imaginons quelqu'un qui pense que les chats sont des animaux indépendants. En recherchant des informations sur les chats, cette personne se concentre sur les articles et les histoires qui montrent des chats agissant de manière autonome, tout en ignorant ou minimisant les sources qui montrent des comportements plus affectueux et dépendants des chats.​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7"/>
          <p:cNvPicPr preferRelativeResize="0"/>
          <p:nvPr/>
        </p:nvPicPr>
        <p:blipFill>
          <a:blip r:embed="rId3">
            <a:alphaModFix/>
          </a:blip>
          <a:stretch>
            <a:fillRect/>
          </a:stretch>
        </p:blipFill>
        <p:spPr>
          <a:xfrm>
            <a:off x="509625" y="1472600"/>
            <a:ext cx="8124750" cy="2754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8"/>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310" name="Google Shape;310;p48"/>
          <p:cNvSpPr txBox="1">
            <a:spLocks noGrp="1"/>
          </p:cNvSpPr>
          <p:nvPr>
            <p:ph type="body" idx="1"/>
          </p:nvPr>
        </p:nvSpPr>
        <p:spPr>
          <a:xfrm>
            <a:off x="1999525" y="1293700"/>
            <a:ext cx="4928100" cy="309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highlight>
                  <a:srgbClr val="00FF00"/>
                </a:highlight>
              </a:rPr>
              <a:t>Accepter que notre esprit puisse nous tromper</a:t>
            </a:r>
            <a:r>
              <a:rPr lang="fr-CA" sz="1800"/>
              <a:t> et ce, malgré nos bonnes intentions</a:t>
            </a:r>
            <a:endParaRPr sz="1800"/>
          </a:p>
          <a:p>
            <a:pPr marL="457200" lvl="0" indent="-342900" algn="l" rtl="0">
              <a:spcBef>
                <a:spcPts val="0"/>
              </a:spcBef>
              <a:spcAft>
                <a:spcPts val="0"/>
              </a:spcAft>
              <a:buSzPts val="1800"/>
              <a:buAutoNum type="arabicPeriod"/>
            </a:pPr>
            <a:r>
              <a:rPr lang="fr-CA" sz="1800"/>
              <a:t>Réfléchir aux hypothèses alternatives et </a:t>
            </a:r>
            <a:r>
              <a:rPr lang="fr-CA" sz="1800">
                <a:highlight>
                  <a:srgbClr val="00FF00"/>
                </a:highlight>
              </a:rPr>
              <a:t>chercher les situations susceptibles de contredire nos croyances</a:t>
            </a:r>
            <a:endParaRPr sz="1800">
              <a:highlight>
                <a:srgbClr val="00FF00"/>
              </a:highlight>
            </a:endParaRPr>
          </a:p>
          <a:p>
            <a:pPr marL="457200" lvl="0" indent="-342900" algn="l" rtl="0">
              <a:spcBef>
                <a:spcPts val="0"/>
              </a:spcBef>
              <a:spcAft>
                <a:spcPts val="0"/>
              </a:spcAft>
              <a:buSzPts val="1800"/>
              <a:buAutoNum type="arabicPeriod"/>
            </a:pPr>
            <a:r>
              <a:rPr lang="fr-CA" sz="1800"/>
              <a:t>Établir a priori une procédure d’évaluation de l’information et s’y référer systématiquement</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9"/>
          <p:cNvSpPr txBox="1">
            <a:spLocks noGrp="1"/>
          </p:cNvSpPr>
          <p:nvPr>
            <p:ph type="title"/>
          </p:nvPr>
        </p:nvSpPr>
        <p:spPr>
          <a:xfrm>
            <a:off x="145050" y="148775"/>
            <a:ext cx="4286100" cy="1991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2. Effet de répétition (effet de vérité illusoire)</a:t>
            </a:r>
            <a:endParaRPr/>
          </a:p>
        </p:txBody>
      </p:sp>
      <p:sp>
        <p:nvSpPr>
          <p:cNvPr id="316" name="Google Shape;316;p49"/>
          <p:cNvSpPr txBox="1">
            <a:spLocks noGrp="1"/>
          </p:cNvSpPr>
          <p:nvPr>
            <p:ph type="subTitle" idx="1"/>
          </p:nvPr>
        </p:nvSpPr>
        <p:spPr>
          <a:xfrm>
            <a:off x="265500" y="2506000"/>
            <a:ext cx="4045200" cy="1855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Une chanson que vous n'aimiez pas au départ peut commencer à vous plaire après l’avoir entendue plusieurs fois. La répétition crée une familiarité qui rend la musique plus agréable.</a:t>
            </a:r>
            <a:endParaRPr/>
          </a:p>
        </p:txBody>
      </p:sp>
      <p:sp>
        <p:nvSpPr>
          <p:cNvPr id="317" name="Google Shape;317;p49"/>
          <p:cNvSpPr txBox="1">
            <a:spLocks noGrp="1"/>
          </p:cNvSpPr>
          <p:nvPr>
            <p:ph type="body" idx="2"/>
          </p:nvPr>
        </p:nvSpPr>
        <p:spPr>
          <a:xfrm>
            <a:off x="4629150" y="148775"/>
            <a:ext cx="4439100" cy="42705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Tendance à c</a:t>
            </a:r>
            <a:r>
              <a:rPr lang="fr-CA">
                <a:highlight>
                  <a:srgbClr val="00FF00"/>
                </a:highlight>
              </a:rPr>
              <a:t>roire qu’une information est vraie</a:t>
            </a:r>
            <a:r>
              <a:rPr lang="fr-CA"/>
              <a:t> après une </a:t>
            </a:r>
            <a:r>
              <a:rPr lang="fr-CA">
                <a:highlight>
                  <a:srgbClr val="00FF00"/>
                </a:highlight>
              </a:rPr>
              <a:t>exposition répétée</a:t>
            </a:r>
            <a:endParaRPr>
              <a:highlight>
                <a:srgbClr val="00FF00"/>
              </a:highlight>
            </a:endParaRPr>
          </a:p>
          <a:p>
            <a:pPr marL="457200" lvl="0" indent="0" algn="l" rtl="0">
              <a:spcBef>
                <a:spcPts val="1200"/>
              </a:spcBef>
              <a:spcAft>
                <a:spcPts val="0"/>
              </a:spcAft>
              <a:buNone/>
            </a:pPr>
            <a:endParaRPr>
              <a:highlight>
                <a:srgbClr val="00FF00"/>
              </a:highlight>
            </a:endParaRPr>
          </a:p>
          <a:p>
            <a:pPr marL="457200" lvl="0" indent="-336550" algn="l" rtl="0">
              <a:spcBef>
                <a:spcPts val="1200"/>
              </a:spcBef>
              <a:spcAft>
                <a:spcPts val="0"/>
              </a:spcAft>
              <a:buSzPts val="1700"/>
              <a:buChar char="-"/>
            </a:pPr>
            <a:r>
              <a:rPr lang="fr-CA" sz="1700">
                <a:highlight>
                  <a:srgbClr val="00FF00"/>
                </a:highlight>
              </a:rPr>
              <a:t>La répétition</a:t>
            </a:r>
            <a:r>
              <a:rPr lang="fr-CA" sz="1700"/>
              <a:t> d’une information peut </a:t>
            </a:r>
            <a:r>
              <a:rPr lang="fr-CA" sz="1700">
                <a:highlight>
                  <a:srgbClr val="00FF00"/>
                </a:highlight>
              </a:rPr>
              <a:t>donner l’impression qu’elle provient de plusieurs sources</a:t>
            </a:r>
            <a:r>
              <a:rPr lang="fr-CA" sz="1700"/>
              <a:t> et donner </a:t>
            </a:r>
            <a:r>
              <a:rPr lang="fr-CA" sz="1700">
                <a:highlight>
                  <a:srgbClr val="00FF00"/>
                </a:highlight>
              </a:rPr>
              <a:t>l’impression qu’elle est plus crédible</a:t>
            </a:r>
            <a:r>
              <a:rPr lang="fr-CA" sz="1700"/>
              <a:t>.​</a:t>
            </a:r>
            <a:endParaRPr sz="1700"/>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En gros, </a:t>
            </a:r>
            <a:r>
              <a:rPr lang="fr-CA">
                <a:highlight>
                  <a:srgbClr val="00FF00"/>
                </a:highlight>
              </a:rPr>
              <a:t>plus on entend une idée, plus on a tendance à la croire</a:t>
            </a:r>
            <a:endParaRPr>
              <a:highlight>
                <a:srgbClr val="00FF00"/>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d’effet de répétition</a:t>
            </a:r>
            <a:endParaRPr/>
          </a:p>
        </p:txBody>
      </p:sp>
      <p:sp>
        <p:nvSpPr>
          <p:cNvPr id="323" name="Google Shape;323;p5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CA" sz="2500">
                <a:latin typeface="Montserrat"/>
                <a:ea typeface="Montserrat"/>
                <a:cs typeface="Montserrat"/>
                <a:sym typeface="Montserrat"/>
              </a:rPr>
              <a:t>Si une personne entend plusieurs fois à la télévision ou sur les réseaux sociaux qu'un produit spécifique est le meilleur sur le marché, elle est plus encline à croire cette affirmation, même sans preuve solide. La simple répétition du message rend l'idée plus familière et, par conséquent, plus convaincante.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1"/>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329" name="Google Shape;329;p51"/>
          <p:cNvSpPr txBox="1">
            <a:spLocks noGrp="1"/>
          </p:cNvSpPr>
          <p:nvPr>
            <p:ph type="body" idx="1"/>
          </p:nvPr>
        </p:nvSpPr>
        <p:spPr>
          <a:xfrm>
            <a:off x="1752075" y="1293700"/>
            <a:ext cx="5542800" cy="3643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L’effet de répétition serait </a:t>
            </a:r>
            <a:r>
              <a:rPr lang="fr-CA" sz="1800">
                <a:highlight>
                  <a:srgbClr val="00FF00"/>
                </a:highlight>
              </a:rPr>
              <a:t>plus accentué lorsque l’on n’est pas attentif</a:t>
            </a:r>
            <a:r>
              <a:rPr lang="fr-CA" sz="1800"/>
              <a:t> à l’information ; se concentrer pourrait aider à réduire son impact</a:t>
            </a:r>
            <a:endParaRPr sz="1800"/>
          </a:p>
          <a:p>
            <a:pPr marL="457200" lvl="0" indent="-342900" algn="l" rtl="0">
              <a:spcBef>
                <a:spcPts val="0"/>
              </a:spcBef>
              <a:spcAft>
                <a:spcPts val="0"/>
              </a:spcAft>
              <a:buSzPts val="1800"/>
              <a:buAutoNum type="arabicPeriod"/>
            </a:pPr>
            <a:r>
              <a:rPr lang="fr-CA" sz="1800">
                <a:highlight>
                  <a:srgbClr val="00FF00"/>
                </a:highlight>
              </a:rPr>
              <a:t>Lire la totalité d’un article</a:t>
            </a:r>
            <a:r>
              <a:rPr lang="fr-CA" sz="1800"/>
              <a:t> quand le temps nous le permet, et pas seulement son titre</a:t>
            </a:r>
            <a:endParaRPr sz="1800"/>
          </a:p>
          <a:p>
            <a:pPr marL="457200" lvl="0" indent="-342900" algn="l" rtl="0">
              <a:spcBef>
                <a:spcPts val="0"/>
              </a:spcBef>
              <a:spcAft>
                <a:spcPts val="0"/>
              </a:spcAft>
              <a:buSzPts val="1800"/>
              <a:buAutoNum type="arabicPeriod"/>
            </a:pPr>
            <a:r>
              <a:rPr lang="fr-CA" sz="1800"/>
              <a:t>S’informer sur l’information en question, même lorsqu’on la juge comme étant vraie (</a:t>
            </a:r>
            <a:r>
              <a:rPr lang="fr-CA" sz="1800">
                <a:highlight>
                  <a:srgbClr val="00FF00"/>
                </a:highlight>
              </a:rPr>
              <a:t>Quelle est la source</a:t>
            </a:r>
            <a:r>
              <a:rPr lang="fr-CA" sz="1800"/>
              <a:t> ; est-ce écrit par des journalistes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2"/>
          <p:cNvSpPr txBox="1">
            <a:spLocks noGrp="1"/>
          </p:cNvSpPr>
          <p:nvPr>
            <p:ph type="title"/>
          </p:nvPr>
        </p:nvSpPr>
        <p:spPr>
          <a:xfrm>
            <a:off x="265500" y="48525"/>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3. Biais d’omission</a:t>
            </a:r>
            <a:endParaRPr/>
          </a:p>
        </p:txBody>
      </p:sp>
      <p:sp>
        <p:nvSpPr>
          <p:cNvPr id="335" name="Google Shape;335;p52"/>
          <p:cNvSpPr txBox="1">
            <a:spLocks noGrp="1"/>
          </p:cNvSpPr>
          <p:nvPr>
            <p:ph type="subTitle" idx="1"/>
          </p:nvPr>
        </p:nvSpPr>
        <p:spPr>
          <a:xfrm>
            <a:off x="265500" y="1895350"/>
            <a:ext cx="4045200" cy="28419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Si une personne choisit de ne pas vacciner son enfant, elle pourrait penser que cette inaction est moins grave que de prendre la décision de faire vacciner l'enfant et de potentiellement causer un effet secondaire rare, même si le risque de maladie non traitée est plus élevé.</a:t>
            </a:r>
            <a:endParaRPr/>
          </a:p>
        </p:txBody>
      </p:sp>
      <p:sp>
        <p:nvSpPr>
          <p:cNvPr id="336" name="Google Shape;336;p52"/>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Le biais d’omission consiste à considérer que </a:t>
            </a:r>
            <a:r>
              <a:rPr lang="fr-CA">
                <a:highlight>
                  <a:srgbClr val="00FF00"/>
                </a:highlight>
              </a:rPr>
              <a:t>causer un tort par une action est pire que de causer un tort par l’inaction</a:t>
            </a:r>
            <a:endParaRPr>
              <a:highlight>
                <a:srgbClr val="00FF00"/>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de biais d’omission</a:t>
            </a:r>
            <a:endParaRPr/>
          </a:p>
        </p:txBody>
      </p:sp>
      <p:sp>
        <p:nvSpPr>
          <p:cNvPr id="342" name="Google Shape;342;p5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fr-CA" sz="2200">
                <a:latin typeface="Montserrat"/>
                <a:ea typeface="Montserrat"/>
                <a:cs typeface="Montserrat"/>
                <a:sym typeface="Montserrat"/>
              </a:rPr>
              <a:t>Si quelqu'un voit une personne en danger (comme quelqu'un qui se noie) et décide de ne pas intervenir, beaucoup de gens penseront que c'est moins grave que si cette personne poussait activement quelqu'un dans l'eau. Pourtant, dans les deux cas, la personne en danger risque de mourir. Le biais d'omission fait que nous percevons l'inaction (ne pas sauver quelqu'un) comme moralement moins répréhensible que l'action (causer directement la noyade).</a:t>
            </a:r>
            <a:endParaRPr sz="2200">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4"/>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348" name="Google Shape;348;p54"/>
          <p:cNvSpPr txBox="1">
            <a:spLocks noGrp="1"/>
          </p:cNvSpPr>
          <p:nvPr>
            <p:ph type="body" idx="1"/>
          </p:nvPr>
        </p:nvSpPr>
        <p:spPr>
          <a:xfrm>
            <a:off x="1752075" y="1293700"/>
            <a:ext cx="5542800" cy="309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Comprendre que de </a:t>
            </a:r>
            <a:r>
              <a:rPr lang="fr-CA" sz="1800">
                <a:highlight>
                  <a:srgbClr val="00FF00"/>
                </a:highlight>
              </a:rPr>
              <a:t>ne pas agir est une décision, donc une action en soi</a:t>
            </a:r>
            <a:endParaRPr sz="1800">
              <a:highlight>
                <a:srgbClr val="00FF00"/>
              </a:highlight>
            </a:endParaRPr>
          </a:p>
          <a:p>
            <a:pPr marL="457200" lvl="0" indent="-342900" algn="l" rtl="0">
              <a:spcBef>
                <a:spcPts val="0"/>
              </a:spcBef>
              <a:spcAft>
                <a:spcPts val="0"/>
              </a:spcAft>
              <a:buSzPts val="1800"/>
              <a:buAutoNum type="arabicPeriod"/>
            </a:pPr>
            <a:r>
              <a:rPr lang="fr-CA" sz="1800">
                <a:highlight>
                  <a:srgbClr val="00FF00"/>
                </a:highlight>
              </a:rPr>
              <a:t>Déterminer l’ensemble des conséquences, positives et négatives de chacun des actes que tu pourrais faire</a:t>
            </a:r>
            <a:r>
              <a:rPr lang="fr-CA" sz="1800"/>
              <a:t> dans une situation donnée en considérant l’inaction, l’omission comme étant l’en des actes possibles</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5"/>
          <p:cNvSpPr txBox="1">
            <a:spLocks noGrp="1"/>
          </p:cNvSpPr>
          <p:nvPr>
            <p:ph type="title"/>
          </p:nvPr>
        </p:nvSpPr>
        <p:spPr>
          <a:xfrm>
            <a:off x="265500" y="-667825"/>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4. Biais d’ancrage</a:t>
            </a:r>
            <a:endParaRPr/>
          </a:p>
        </p:txBody>
      </p:sp>
      <p:sp>
        <p:nvSpPr>
          <p:cNvPr id="354" name="Google Shape;354;p55"/>
          <p:cNvSpPr txBox="1">
            <a:spLocks noGrp="1"/>
          </p:cNvSpPr>
          <p:nvPr>
            <p:ph type="subTitle" idx="1"/>
          </p:nvPr>
        </p:nvSpPr>
        <p:spPr>
          <a:xfrm>
            <a:off x="265500" y="1554800"/>
            <a:ext cx="4045200" cy="31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fr-CA"/>
              <a:t>Lorsqu'un employeur propose un salaire initial (l'ancre), même si ce chiffre est bas, il influence le candidat dans la négociation. Le candidat pourrait finir par accepter une offre proche de ce chiffre, même s'il vaut davantage, car son jugement a été "ancré" par la première proposition.</a:t>
            </a:r>
            <a:endParaRPr/>
          </a:p>
        </p:txBody>
      </p:sp>
      <p:sp>
        <p:nvSpPr>
          <p:cNvPr id="355" name="Google Shape;355;p55"/>
          <p:cNvSpPr txBox="1">
            <a:spLocks noGrp="1"/>
          </p:cNvSpPr>
          <p:nvPr>
            <p:ph type="body" idx="2"/>
          </p:nvPr>
        </p:nvSpPr>
        <p:spPr>
          <a:xfrm>
            <a:off x="4699600" y="0"/>
            <a:ext cx="4368600" cy="4995600"/>
          </a:xfrm>
          <a:prstGeom prst="rect">
            <a:avLst/>
          </a:prstGeom>
        </p:spPr>
        <p:txBody>
          <a:bodyPr spcFirstLastPara="1" wrap="square" lIns="91425" tIns="91425" rIns="91425" bIns="91425" anchor="ctr" anchorCtr="0">
            <a:normAutofit lnSpcReduction="10000"/>
          </a:bodyPr>
          <a:lstStyle/>
          <a:p>
            <a:pPr marL="457200" lvl="0" indent="-342900" algn="l" rtl="0">
              <a:spcBef>
                <a:spcPts val="0"/>
              </a:spcBef>
              <a:spcAft>
                <a:spcPts val="0"/>
              </a:spcAft>
              <a:buSzPts val="1800"/>
              <a:buChar char="-"/>
            </a:pPr>
            <a:r>
              <a:rPr lang="fr-CA"/>
              <a:t>Tendance à </a:t>
            </a:r>
            <a:r>
              <a:rPr lang="fr-CA">
                <a:highlight>
                  <a:srgbClr val="00FF00"/>
                </a:highlight>
              </a:rPr>
              <a:t>utiliser</a:t>
            </a:r>
            <a:r>
              <a:rPr lang="fr-CA"/>
              <a:t> indûment </a:t>
            </a:r>
            <a:r>
              <a:rPr lang="fr-CA">
                <a:highlight>
                  <a:srgbClr val="00FF00"/>
                </a:highlight>
              </a:rPr>
              <a:t>(injustement) une information comme référence</a:t>
            </a:r>
            <a:r>
              <a:rPr lang="fr-CA"/>
              <a:t>. Il s’agit souvent du premier élément d’information acquis sur le sujet (l’ancre). Ce biais peut intervenir, par exemple, dans les négociations, les soldes des magasins ou les menus de restaurants</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En d’autres mots, c’est </a:t>
            </a:r>
            <a:r>
              <a:rPr lang="fr-CA">
                <a:highlight>
                  <a:srgbClr val="00FF00"/>
                </a:highlight>
              </a:rPr>
              <a:t>se fier de manière disproportionnée à la première information (l'« ancre ») qu'on reçoit</a:t>
            </a:r>
            <a:r>
              <a:rPr lang="fr-CA"/>
              <a:t> lorsqu'on prend une décision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6"/>
          <p:cNvSpPr txBox="1"/>
          <p:nvPr/>
        </p:nvSpPr>
        <p:spPr>
          <a:xfrm>
            <a:off x="753900" y="2008100"/>
            <a:ext cx="737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CA" sz="2400" u="sng">
                <a:solidFill>
                  <a:schemeClr val="hlink"/>
                </a:solidFill>
                <a:hlinkClick r:id="rId3"/>
              </a:rPr>
              <a:t>https://youtu.be/5mMifKmslC4?feature=shared</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du biais d’ancrage</a:t>
            </a:r>
            <a:endParaRPr/>
          </a:p>
        </p:txBody>
      </p:sp>
      <p:sp>
        <p:nvSpPr>
          <p:cNvPr id="366" name="Google Shape;366;p5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CA" sz="2500">
                <a:solidFill>
                  <a:srgbClr val="1F1F1F"/>
                </a:solidFill>
                <a:latin typeface="Montserrat"/>
                <a:ea typeface="Montserrat"/>
                <a:cs typeface="Montserrat"/>
                <a:sym typeface="Montserrat"/>
              </a:rPr>
              <a:t>Imaginez que vous êtes invité à un dîner où le menu propose des plats avec des prix très variés. Si le plat le plus cher est affiché à 50$, vous pourriez trouver que le plat à 30$ semble relativement abordable, même s’il est en réalité assez cher pour un dîner. L'ancre de 50$ influence votre perception du prix du plat à 30$.</a:t>
            </a:r>
            <a:r>
              <a:rPr lang="fr-CA" sz="2500">
                <a:latin typeface="Montserrat"/>
                <a:ea typeface="Montserrat"/>
                <a:cs typeface="Montserrat"/>
                <a:sym typeface="Montserrat"/>
              </a:rPr>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8"/>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372" name="Google Shape;372;p58"/>
          <p:cNvSpPr txBox="1">
            <a:spLocks noGrp="1"/>
          </p:cNvSpPr>
          <p:nvPr>
            <p:ph type="body" idx="1"/>
          </p:nvPr>
        </p:nvSpPr>
        <p:spPr>
          <a:xfrm>
            <a:off x="1752075" y="1293700"/>
            <a:ext cx="5542800" cy="309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Déterminer quelles sont les informations sur lesquelles tu es ancré</a:t>
            </a:r>
            <a:endParaRPr sz="1800"/>
          </a:p>
          <a:p>
            <a:pPr marL="457200" lvl="0" indent="-342900" algn="l" rtl="0">
              <a:spcBef>
                <a:spcPts val="0"/>
              </a:spcBef>
              <a:spcAft>
                <a:spcPts val="0"/>
              </a:spcAft>
              <a:buSzPts val="1800"/>
              <a:buAutoNum type="arabicPeriod"/>
            </a:pPr>
            <a:r>
              <a:rPr lang="fr-CA" sz="1800">
                <a:highlight>
                  <a:srgbClr val="00FF00"/>
                </a:highlight>
              </a:rPr>
              <a:t>Remettre en question les informations d’origine</a:t>
            </a:r>
            <a:endParaRPr sz="1800">
              <a:highlight>
                <a:srgbClr val="00FF00"/>
              </a:highlight>
            </a:endParaRPr>
          </a:p>
          <a:p>
            <a:pPr marL="457200" lvl="0" indent="-342900" algn="l" rtl="0">
              <a:spcBef>
                <a:spcPts val="0"/>
              </a:spcBef>
              <a:spcAft>
                <a:spcPts val="0"/>
              </a:spcAft>
              <a:buSzPts val="1800"/>
              <a:buAutoNum type="arabicPeriod"/>
            </a:pPr>
            <a:r>
              <a:rPr lang="fr-CA" sz="1800"/>
              <a:t>Comparer l’information dans le temps</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9"/>
          <p:cNvSpPr txBox="1">
            <a:spLocks noGrp="1"/>
          </p:cNvSpPr>
          <p:nvPr>
            <p:ph type="title"/>
          </p:nvPr>
        </p:nvSpPr>
        <p:spPr>
          <a:xfrm>
            <a:off x="97950" y="0"/>
            <a:ext cx="4380300" cy="1991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fr-CA"/>
              <a:t>5. Biais de désirabilité sociale ou de conformisme</a:t>
            </a:r>
            <a:endParaRPr/>
          </a:p>
        </p:txBody>
      </p:sp>
      <p:sp>
        <p:nvSpPr>
          <p:cNvPr id="378" name="Google Shape;378;p59"/>
          <p:cNvSpPr txBox="1">
            <a:spLocks noGrp="1"/>
          </p:cNvSpPr>
          <p:nvPr>
            <p:ph type="subTitle" idx="1"/>
          </p:nvPr>
        </p:nvSpPr>
        <p:spPr>
          <a:xfrm>
            <a:off x="265500" y="2571750"/>
            <a:ext cx="4045200" cy="19914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fr-CA"/>
              <a:t> Lors d'une réunion ou d'un vote au travail, quelqu'un peut se ranger à l'avis général, même s'il n'est pas entièrement d'accord, par peur d'être le seul à s'opposer et de créer un conflit ou d'être jugé.</a:t>
            </a:r>
            <a:endParaRPr/>
          </a:p>
        </p:txBody>
      </p:sp>
      <p:sp>
        <p:nvSpPr>
          <p:cNvPr id="379" name="Google Shape;379;p59"/>
          <p:cNvSpPr txBox="1">
            <a:spLocks noGrp="1"/>
          </p:cNvSpPr>
          <p:nvPr>
            <p:ph type="body" idx="2"/>
          </p:nvPr>
        </p:nvSpPr>
        <p:spPr>
          <a:xfrm>
            <a:off x="4939500" y="216075"/>
            <a:ext cx="3837000" cy="42033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t>Tendance à </a:t>
            </a:r>
            <a:r>
              <a:rPr lang="fr-CA">
                <a:highlight>
                  <a:srgbClr val="00FF00"/>
                </a:highlight>
              </a:rPr>
              <a:t>penser et agir comme les autres</a:t>
            </a:r>
            <a:r>
              <a:rPr lang="fr-CA"/>
              <a:t> le font</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Des fois, les gens adoptent les croyances ou comportements du groupe sans même en être pleinement conscients, simplement parce que l</a:t>
            </a:r>
            <a:r>
              <a:rPr lang="fr-CA">
                <a:highlight>
                  <a:srgbClr val="00FF00"/>
                </a:highlight>
              </a:rPr>
              <a:t>'opinion collective influence leur jugement</a:t>
            </a:r>
            <a:r>
              <a:rPr lang="fr-CA"/>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de biais de désirabilité sociale</a:t>
            </a:r>
            <a:endParaRPr/>
          </a:p>
        </p:txBody>
      </p:sp>
      <p:sp>
        <p:nvSpPr>
          <p:cNvPr id="385" name="Google Shape;385;p6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fr-CA" sz="2200">
                <a:latin typeface="Montserrat"/>
                <a:ea typeface="Montserrat"/>
                <a:cs typeface="Montserrat"/>
                <a:sym typeface="Montserrat"/>
              </a:rPr>
              <a:t>Les élèves peuvent ajuster leurs réponses en classe ou dans un groupe de discussion pour se conformer à ce qu'ils pensent que l'enseignant ou leurs camarades veulent entendre.</a:t>
            </a:r>
            <a:endParaRPr sz="2200">
              <a:latin typeface="Montserrat"/>
              <a:ea typeface="Montserrat"/>
              <a:cs typeface="Montserrat"/>
              <a:sym typeface="Montserrat"/>
            </a:endParaRPr>
          </a:p>
          <a:p>
            <a:pPr marL="0" lvl="0" indent="0" algn="l" rtl="0">
              <a:spcBef>
                <a:spcPts val="1200"/>
              </a:spcBef>
              <a:spcAft>
                <a:spcPts val="0"/>
              </a:spcAft>
              <a:buClr>
                <a:schemeClr val="dk1"/>
              </a:buClr>
              <a:buSzPts val="1100"/>
              <a:buFont typeface="Arial"/>
              <a:buNone/>
            </a:pPr>
            <a:r>
              <a:rPr lang="fr-CA" sz="2200" b="1">
                <a:latin typeface="Montserrat"/>
                <a:ea typeface="Montserrat"/>
                <a:cs typeface="Montserrat"/>
                <a:sym typeface="Montserrat"/>
              </a:rPr>
              <a:t>Exemple :</a:t>
            </a:r>
            <a:r>
              <a:rPr lang="fr-CA" sz="2200">
                <a:latin typeface="Montserrat"/>
                <a:ea typeface="Montserrat"/>
                <a:cs typeface="Montserrat"/>
                <a:sym typeface="Montserrat"/>
              </a:rPr>
              <a:t> Lors d'une discussion sur la lecture, un élève peut affirmer aimer la lecture et lire souvent des livres, car c'est une réponse valorisée par les enseignants, alors qu'en réalité, il lit très peu en dehors des devoirs scolaires.</a:t>
            </a:r>
            <a:endParaRPr sz="2200">
              <a:latin typeface="Montserrat"/>
              <a:ea typeface="Montserrat"/>
              <a:cs typeface="Montserrat"/>
              <a:sym typeface="Montserrat"/>
            </a:endParaRPr>
          </a:p>
          <a:p>
            <a:pPr marL="0" lvl="0" indent="0" algn="l" rtl="0">
              <a:spcBef>
                <a:spcPts val="1200"/>
              </a:spcBef>
              <a:spcAft>
                <a:spcPts val="120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1"/>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391" name="Google Shape;391;p61"/>
          <p:cNvSpPr txBox="1">
            <a:spLocks noGrp="1"/>
          </p:cNvSpPr>
          <p:nvPr>
            <p:ph type="body" idx="1"/>
          </p:nvPr>
        </p:nvSpPr>
        <p:spPr>
          <a:xfrm>
            <a:off x="1752075" y="1293700"/>
            <a:ext cx="5542800" cy="3091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Anticiper cette réalité dans les résultats des études scientifiques</a:t>
            </a:r>
            <a:endParaRPr sz="1800"/>
          </a:p>
          <a:p>
            <a:pPr marL="457200" lvl="0" indent="-342900" algn="l" rtl="0">
              <a:spcBef>
                <a:spcPts val="0"/>
              </a:spcBef>
              <a:spcAft>
                <a:spcPts val="0"/>
              </a:spcAft>
              <a:buSzPts val="1800"/>
              <a:buAutoNum type="arabicPeriod"/>
            </a:pPr>
            <a:r>
              <a:rPr lang="fr-CA" sz="1800"/>
              <a:t>Mettre la personne à l’aise au début de l’étude/entretien/sondage d’emploi et lui faire comprendre qu’elle se trouve dans un environnement exempt de jugement</a:t>
            </a:r>
            <a:endParaRPr sz="1800"/>
          </a:p>
          <a:p>
            <a:pPr marL="457200" lvl="0" indent="-342900" algn="l" rtl="0">
              <a:spcBef>
                <a:spcPts val="0"/>
              </a:spcBef>
              <a:spcAft>
                <a:spcPts val="0"/>
              </a:spcAft>
              <a:buSzPts val="1800"/>
              <a:buAutoNum type="arabicPeriod"/>
            </a:pPr>
            <a:r>
              <a:rPr lang="fr-CA" sz="1800">
                <a:highlight>
                  <a:srgbClr val="00FF00"/>
                </a:highlight>
              </a:rPr>
              <a:t>Prendre conscience de notre désir de vouloir bien paraître</a:t>
            </a:r>
            <a:endParaRPr sz="1800">
              <a:highlight>
                <a:srgbClr val="00FF00"/>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2"/>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6. Biais d’essentialisme</a:t>
            </a:r>
            <a:endParaRPr/>
          </a:p>
        </p:txBody>
      </p:sp>
      <p:sp>
        <p:nvSpPr>
          <p:cNvPr id="397" name="Google Shape;397;p62"/>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398" name="Google Shape;398;p62"/>
          <p:cNvSpPr txBox="1">
            <a:spLocks noGrp="1"/>
          </p:cNvSpPr>
          <p:nvPr>
            <p:ph type="body" idx="2"/>
          </p:nvPr>
        </p:nvSpPr>
        <p:spPr>
          <a:xfrm>
            <a:off x="4716375" y="-77500"/>
            <a:ext cx="4316400" cy="52209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fr-CA">
                <a:highlight>
                  <a:srgbClr val="00FF00"/>
                </a:highlight>
              </a:rPr>
              <a:t>Favoriser les gens qui appartiennent à un même groupe que nous</a:t>
            </a:r>
            <a:r>
              <a:rPr lang="fr-CA"/>
              <a:t> comparativement aux personnes qui n’en font pas partie.</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C’est de considérer que nous faisons partie de groupe distinct et que le tout est simplifiable à des caractéristiques dites essentielles de chacun de ses groupes en a</a:t>
            </a:r>
            <a:r>
              <a:rPr lang="fr-CA">
                <a:highlight>
                  <a:srgbClr val="00FF00"/>
                </a:highlight>
              </a:rPr>
              <a:t>ttribuant inévitablement plus de valeurs aux groupes</a:t>
            </a:r>
            <a:r>
              <a:rPr lang="fr-CA"/>
              <a:t> dont nous faisons partis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3"/>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404" name="Google Shape;404;p63"/>
          <p:cNvSpPr txBox="1">
            <a:spLocks noGrp="1"/>
          </p:cNvSpPr>
          <p:nvPr>
            <p:ph type="body" idx="1"/>
          </p:nvPr>
        </p:nvSpPr>
        <p:spPr>
          <a:xfrm>
            <a:off x="1752075" y="1293700"/>
            <a:ext cx="5542800" cy="3420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Prendre conscience de la complexité des catégories sociales</a:t>
            </a:r>
            <a:endParaRPr sz="1800"/>
          </a:p>
          <a:p>
            <a:pPr marL="457200" lvl="0" indent="-342900" algn="l" rtl="0">
              <a:spcBef>
                <a:spcPts val="0"/>
              </a:spcBef>
              <a:spcAft>
                <a:spcPts val="0"/>
              </a:spcAft>
              <a:buSzPts val="1800"/>
              <a:buAutoNum type="arabicPeriod"/>
            </a:pPr>
            <a:r>
              <a:rPr lang="fr-CA" sz="1800"/>
              <a:t>S’instruire sur l’interaction entre des différences réelles entre les groupes et les constructions sociales véhiculées à leur endroit</a:t>
            </a:r>
            <a:endParaRPr sz="1800"/>
          </a:p>
          <a:p>
            <a:pPr marL="457200" lvl="0" indent="-342900" algn="l" rtl="0">
              <a:spcBef>
                <a:spcPts val="0"/>
              </a:spcBef>
              <a:spcAft>
                <a:spcPts val="0"/>
              </a:spcAft>
              <a:buSzPts val="1800"/>
              <a:buAutoNum type="arabicPeriod"/>
            </a:pPr>
            <a:r>
              <a:rPr lang="fr-CA" sz="1800">
                <a:highlight>
                  <a:srgbClr val="00FF00"/>
                </a:highlight>
              </a:rPr>
              <a:t>Diversifier son réseau social et prendre contact avec des gens issus de d’autres groupes sociaux</a:t>
            </a:r>
            <a:r>
              <a:rPr lang="fr-CA" sz="1800"/>
              <a:t> afin de reconnaître leur individualité</a:t>
            </a:r>
            <a:endParaRPr sz="1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64"/>
          <p:cNvSpPr txBox="1">
            <a:spLocks noGrp="1"/>
          </p:cNvSpPr>
          <p:nvPr>
            <p:ph type="title"/>
          </p:nvPr>
        </p:nvSpPr>
        <p:spPr>
          <a:xfrm>
            <a:off x="371175" y="-183200"/>
            <a:ext cx="4045200" cy="1786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CA"/>
              <a:t>7. Effet de halo</a:t>
            </a:r>
            <a:endParaRPr/>
          </a:p>
        </p:txBody>
      </p:sp>
      <p:sp>
        <p:nvSpPr>
          <p:cNvPr id="410" name="Google Shape;410;p64"/>
          <p:cNvSpPr txBox="1">
            <a:spLocks noGrp="1"/>
          </p:cNvSpPr>
          <p:nvPr>
            <p:ph type="subTitle" idx="1"/>
          </p:nvPr>
        </p:nvSpPr>
        <p:spPr>
          <a:xfrm>
            <a:off x="265500" y="2487175"/>
            <a:ext cx="4045200" cy="18507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fr-CA"/>
              <a:t>Exemple : Une marque connue pour ses produits de qualité (Apple) peut voir ses autres produits jugés positivement (Airpods, Macbook) même si ceux-ci n’ont pas fait leur preuve</a:t>
            </a:r>
            <a:endParaRPr/>
          </a:p>
        </p:txBody>
      </p:sp>
      <p:sp>
        <p:nvSpPr>
          <p:cNvPr id="411" name="Google Shape;411;p64"/>
          <p:cNvSpPr txBox="1">
            <a:spLocks noGrp="1"/>
          </p:cNvSpPr>
          <p:nvPr>
            <p:ph type="body" idx="2"/>
          </p:nvPr>
        </p:nvSpPr>
        <p:spPr>
          <a:xfrm>
            <a:off x="4676125" y="110375"/>
            <a:ext cx="4392000" cy="4849800"/>
          </a:xfrm>
          <a:prstGeom prst="rect">
            <a:avLst/>
          </a:prstGeom>
        </p:spPr>
        <p:txBody>
          <a:bodyPr spcFirstLastPara="1" wrap="square" lIns="91425" tIns="91425" rIns="91425" bIns="91425" anchor="ctr" anchorCtr="0">
            <a:normAutofit lnSpcReduction="10000"/>
          </a:bodyPr>
          <a:lstStyle/>
          <a:p>
            <a:pPr marL="457200" lvl="0" indent="-342900" algn="l" rtl="0">
              <a:spcBef>
                <a:spcPts val="0"/>
              </a:spcBef>
              <a:spcAft>
                <a:spcPts val="0"/>
              </a:spcAft>
              <a:buSzPts val="1800"/>
              <a:buChar char="-"/>
            </a:pPr>
            <a:r>
              <a:rPr lang="fr-CA"/>
              <a:t>Quand </a:t>
            </a:r>
            <a:r>
              <a:rPr lang="fr-CA">
                <a:highlight>
                  <a:srgbClr val="00FF00"/>
                </a:highlight>
              </a:rPr>
              <a:t>la perception</a:t>
            </a:r>
            <a:r>
              <a:rPr lang="fr-CA"/>
              <a:t> d’une personne ou d’un groupe </a:t>
            </a:r>
            <a:r>
              <a:rPr lang="fr-CA">
                <a:highlight>
                  <a:srgbClr val="00FF00"/>
                </a:highlight>
              </a:rPr>
              <a:t>est influencée par l’opinion que l’on a </a:t>
            </a:r>
            <a:r>
              <a:rPr lang="fr-CA"/>
              <a:t>préalablement pour l’une de ses caractéristiques</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Par exemple, </a:t>
            </a:r>
            <a:r>
              <a:rPr lang="fr-CA">
                <a:highlight>
                  <a:srgbClr val="00FF00"/>
                </a:highlight>
              </a:rPr>
              <a:t>une personne de belle apparence physique sera perçue comme intelligente</a:t>
            </a:r>
            <a:r>
              <a:rPr lang="fr-CA"/>
              <a:t> et digne de confiance</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fr-CA"/>
              <a:t>L’effet de notoriété est aussi un effet de halo</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CA"/>
              <a:t>Exemple d’effet de halo</a:t>
            </a:r>
            <a:endParaRPr/>
          </a:p>
        </p:txBody>
      </p:sp>
      <p:sp>
        <p:nvSpPr>
          <p:cNvPr id="417" name="Google Shape;417;p6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CA"/>
              <a:t>La perception que vous avez de vos profs et des vos collègues de classe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6"/>
          <p:cNvSpPr txBox="1">
            <a:spLocks noGrp="1"/>
          </p:cNvSpPr>
          <p:nvPr>
            <p:ph type="title"/>
          </p:nvPr>
        </p:nvSpPr>
        <p:spPr>
          <a:xfrm>
            <a:off x="2692400" y="391175"/>
            <a:ext cx="39534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CA" sz="4800"/>
              <a:t>Comment l’éviter ?</a:t>
            </a:r>
            <a:endParaRPr sz="4800"/>
          </a:p>
        </p:txBody>
      </p:sp>
      <p:sp>
        <p:nvSpPr>
          <p:cNvPr id="423" name="Google Shape;423;p66"/>
          <p:cNvSpPr txBox="1">
            <a:spLocks noGrp="1"/>
          </p:cNvSpPr>
          <p:nvPr>
            <p:ph type="body" idx="1"/>
          </p:nvPr>
        </p:nvSpPr>
        <p:spPr>
          <a:xfrm>
            <a:off x="894825" y="1293700"/>
            <a:ext cx="7468800" cy="3420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fr-CA" sz="1800"/>
              <a:t>Le simple fait d’</a:t>
            </a:r>
            <a:r>
              <a:rPr lang="fr-CA" sz="1800">
                <a:highlight>
                  <a:srgbClr val="00FF00"/>
                </a:highlight>
              </a:rPr>
              <a:t>être conscient de ce biais ne vous rend pas moins susceptible d’y succomber</a:t>
            </a:r>
            <a:r>
              <a:rPr lang="fr-CA" sz="1800"/>
              <a:t>. Dans une étude, des participants étaient explicitement informés de l’effet de halo avant d’accomplir une tâche et pourtant, ils ont tout de même manifesté le biais</a:t>
            </a:r>
            <a:endParaRPr sz="1800"/>
          </a:p>
          <a:p>
            <a:pPr marL="457200" lvl="0" indent="-342900" algn="l" rtl="0">
              <a:spcBef>
                <a:spcPts val="0"/>
              </a:spcBef>
              <a:spcAft>
                <a:spcPts val="0"/>
              </a:spcAft>
              <a:buSzPts val="1800"/>
              <a:buAutoNum type="arabicPeriod"/>
            </a:pPr>
            <a:r>
              <a:rPr lang="fr-CA" sz="1800"/>
              <a:t>Il a été montré qu’un</a:t>
            </a:r>
            <a:r>
              <a:rPr lang="fr-CA" sz="1800">
                <a:highlight>
                  <a:srgbClr val="00FF00"/>
                </a:highlight>
              </a:rPr>
              <a:t> processus de pensée plus systématique et minutieux réduit l’effet de halo</a:t>
            </a:r>
            <a:endParaRPr sz="1800">
              <a:highlight>
                <a:srgbClr val="00FF00"/>
              </a:highlight>
            </a:endParaRPr>
          </a:p>
          <a:p>
            <a:pPr marL="457200" lvl="0" indent="-342900" algn="l" rtl="0">
              <a:spcBef>
                <a:spcPts val="0"/>
              </a:spcBef>
              <a:spcAft>
                <a:spcPts val="0"/>
              </a:spcAft>
              <a:buSzPts val="1800"/>
              <a:buAutoNum type="arabicPeriod"/>
            </a:pPr>
            <a:r>
              <a:rPr lang="fr-CA" sz="1800">
                <a:highlight>
                  <a:srgbClr val="00FF00"/>
                </a:highlight>
              </a:rPr>
              <a:t>Être d’humeur négative réduit l’effet de halo</a:t>
            </a:r>
            <a:r>
              <a:rPr lang="fr-CA" sz="1800"/>
              <a:t> (sans dire que vous devriez être de mauvaise humeur, </a:t>
            </a:r>
            <a:r>
              <a:rPr lang="fr-CA" sz="1800">
                <a:highlight>
                  <a:srgbClr val="00FF00"/>
                </a:highlight>
              </a:rPr>
              <a:t>essayez d’être conscient de l’effet contagieux d’une humeur trop positive lorsque vous devez prendre des décisions</a:t>
            </a:r>
            <a:endParaRPr sz="1800">
              <a:highlight>
                <a:srgbClr val="00FF00"/>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7"/>
          <p:cNvSpPr txBox="1"/>
          <p:nvPr/>
        </p:nvSpPr>
        <p:spPr>
          <a:xfrm>
            <a:off x="2350" y="16450"/>
            <a:ext cx="9288900" cy="52728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sp>
        <p:nvSpPr>
          <p:cNvPr id="429" name="Google Shape;429;p67"/>
          <p:cNvSpPr txBox="1"/>
          <p:nvPr/>
        </p:nvSpPr>
        <p:spPr>
          <a:xfrm>
            <a:off x="1528950" y="321775"/>
            <a:ext cx="6083100" cy="4544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CA" sz="3000" b="1">
                <a:solidFill>
                  <a:schemeClr val="dk1"/>
                </a:solidFill>
                <a:latin typeface="Open Sans"/>
                <a:ea typeface="Open Sans"/>
                <a:cs typeface="Open Sans"/>
                <a:sym typeface="Open Sans"/>
              </a:rPr>
              <a:t>Activité 3</a:t>
            </a:r>
            <a:endParaRPr sz="3000" b="1">
              <a:solidFill>
                <a:schemeClr val="dk1"/>
              </a:solidFill>
              <a:latin typeface="Open Sans"/>
              <a:ea typeface="Open Sans"/>
              <a:cs typeface="Open Sans"/>
              <a:sym typeface="Open Sans"/>
            </a:endParaRPr>
          </a:p>
          <a:p>
            <a:pPr marL="457200" lvl="0" indent="-419100" algn="ctr" rtl="0">
              <a:spcBef>
                <a:spcPts val="0"/>
              </a:spcBef>
              <a:spcAft>
                <a:spcPts val="0"/>
              </a:spcAft>
              <a:buClr>
                <a:schemeClr val="dk1"/>
              </a:buClr>
              <a:buSzPts val="3000"/>
              <a:buFont typeface="Open Sans"/>
              <a:buChar char="-"/>
            </a:pPr>
            <a:r>
              <a:rPr lang="fr-CA" sz="3000" b="1">
                <a:solidFill>
                  <a:schemeClr val="dk1"/>
                </a:solidFill>
                <a:latin typeface="Open Sans"/>
                <a:ea typeface="Open Sans"/>
                <a:cs typeface="Open Sans"/>
                <a:sym typeface="Open Sans"/>
              </a:rPr>
              <a:t> </a:t>
            </a:r>
            <a:endParaRPr sz="3000" b="1">
              <a:solidFill>
                <a:schemeClr val="dk1"/>
              </a:solidFill>
              <a:latin typeface="Open Sans"/>
              <a:ea typeface="Open Sans"/>
              <a:cs typeface="Open Sans"/>
              <a:sym typeface="Open Sans"/>
            </a:endParaRPr>
          </a:p>
          <a:p>
            <a:pPr marL="0" lvl="0" indent="0" algn="ctr" rtl="0">
              <a:spcBef>
                <a:spcPts val="0"/>
              </a:spcBef>
              <a:spcAft>
                <a:spcPts val="0"/>
              </a:spcAft>
              <a:buNone/>
            </a:pPr>
            <a:r>
              <a:rPr lang="fr-CA" sz="3000" b="1">
                <a:solidFill>
                  <a:srgbClr val="1D254F"/>
                </a:solidFill>
                <a:latin typeface="Nunito"/>
                <a:ea typeface="Nunito"/>
                <a:cs typeface="Nunito"/>
                <a:sym typeface="Nunito"/>
              </a:rPr>
              <a:t>Identifie une situation dans ta vie où tu crois avoir été influencé par un biais cognitif</a:t>
            </a:r>
            <a:endParaRPr sz="3000" b="1">
              <a:solidFill>
                <a:srgbClr val="1D254F"/>
              </a:solidFill>
              <a:latin typeface="Nunito"/>
              <a:ea typeface="Nunito"/>
              <a:cs typeface="Nunito"/>
              <a:sym typeface="Nunito"/>
            </a:endParaRPr>
          </a:p>
          <a:p>
            <a:pPr marL="0" lvl="0" indent="0" algn="ctr" rtl="0">
              <a:spcBef>
                <a:spcPts val="0"/>
              </a:spcBef>
              <a:spcAft>
                <a:spcPts val="0"/>
              </a:spcAft>
              <a:buNone/>
            </a:pPr>
            <a:endParaRPr sz="3000" b="1">
              <a:solidFill>
                <a:srgbClr val="1D254F"/>
              </a:solidFill>
              <a:latin typeface="Nunito"/>
              <a:ea typeface="Nunito"/>
              <a:cs typeface="Nunito"/>
              <a:sym typeface="Nunito"/>
            </a:endParaRPr>
          </a:p>
          <a:p>
            <a:pPr marL="0" lvl="0" indent="0" algn="ctr" rtl="0">
              <a:spcBef>
                <a:spcPts val="0"/>
              </a:spcBef>
              <a:spcAft>
                <a:spcPts val="0"/>
              </a:spcAft>
              <a:buNone/>
            </a:pPr>
            <a:r>
              <a:rPr lang="fr-CA" sz="3000" b="1">
                <a:solidFill>
                  <a:srgbClr val="1D254F"/>
                </a:solidFill>
                <a:latin typeface="Nunito"/>
                <a:ea typeface="Nunito"/>
                <a:cs typeface="Nunito"/>
                <a:sym typeface="Nunito"/>
              </a:rPr>
              <a:t>Ensuite, </a:t>
            </a:r>
            <a:r>
              <a:rPr lang="fr-CA" sz="3000" b="1">
                <a:solidFill>
                  <a:schemeClr val="dk1"/>
                </a:solidFill>
                <a:latin typeface="Nunito"/>
                <a:ea typeface="Nunito"/>
                <a:cs typeface="Nunito"/>
                <a:sym typeface="Nunito"/>
              </a:rPr>
              <a:t>justifie pourquoi il s’agissait de ce biais cognitif plutôt qu’un autre</a:t>
            </a:r>
            <a:endParaRPr sz="3000" b="1">
              <a:solidFill>
                <a:srgbClr val="1D254F"/>
              </a:solidFill>
              <a:latin typeface="Nunito"/>
              <a:ea typeface="Nunito"/>
              <a:cs typeface="Nunito"/>
              <a:sym typeface="Nunito"/>
            </a:endParaRPr>
          </a:p>
          <a:p>
            <a:pPr marL="0" lvl="0" indent="0" algn="l" rtl="0">
              <a:spcBef>
                <a:spcPts val="0"/>
              </a:spcBef>
              <a:spcAft>
                <a:spcPts val="0"/>
              </a:spcAft>
              <a:buNone/>
            </a:pPr>
            <a:endParaRPr sz="18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3286</Words>
  <Application>Microsoft Office PowerPoint</Application>
  <PresentationFormat>Affichage à l'écran (16:9)</PresentationFormat>
  <Paragraphs>275</Paragraphs>
  <Slides>55</Slides>
  <Notes>55</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55</vt:i4>
      </vt:variant>
    </vt:vector>
  </HeadingPairs>
  <TitlesOfParts>
    <vt:vector size="61" baseType="lpstr">
      <vt:lpstr>Nunito</vt:lpstr>
      <vt:lpstr>Economica</vt:lpstr>
      <vt:lpstr>Open Sans</vt:lpstr>
      <vt:lpstr>Montserrat</vt:lpstr>
      <vt:lpstr>Arial</vt:lpstr>
      <vt:lpstr>Luxe</vt:lpstr>
      <vt:lpstr>Pièges de la pensée</vt:lpstr>
      <vt:lpstr>Définition</vt:lpstr>
      <vt:lpstr>Les 18 erreurs de raisonnement</vt:lpstr>
      <vt:lpstr>Généralisation abusive</vt:lpstr>
      <vt:lpstr>2. Appel à l’ignorance</vt:lpstr>
      <vt:lpstr>Présentation PowerPoint</vt:lpstr>
      <vt:lpstr>3. Attaque personnelle</vt:lpstr>
      <vt:lpstr>Présentation PowerPoint</vt:lpstr>
      <vt:lpstr>4. Appel à la popularité </vt:lpstr>
      <vt:lpstr>5. Appel au clan</vt:lpstr>
      <vt:lpstr>Appel à la popularité = La population, la société, « tout le monde »  Appel au clan = Mes ami(e)s, ma famille, mon équipe, les gens de mon école, etc.</vt:lpstr>
      <vt:lpstr>6. Argument d’autorité</vt:lpstr>
      <vt:lpstr>7. Appel aux stéréotypes (Appel au préjugé)</vt:lpstr>
      <vt:lpstr>8. Appel à la tradition</vt:lpstr>
      <vt:lpstr>9. Appel à la nouveauté (ou à la modernité)</vt:lpstr>
      <vt:lpstr>Présentation PowerPoint</vt:lpstr>
      <vt:lpstr>10. Double faute</vt:lpstr>
      <vt:lpstr>11. Faux dilemme</vt:lpstr>
      <vt:lpstr>12. Fausse analogie</vt:lpstr>
      <vt:lpstr>13. Fausse causalité</vt:lpstr>
      <vt:lpstr>Présentation PowerPoint</vt:lpstr>
      <vt:lpstr>Une fourchette à des dents Tu as des dents Ça ne veut pas dire que tu es une fourchette</vt:lpstr>
      <vt:lpstr>14. Pente fatale</vt:lpstr>
      <vt:lpstr>15. Caricature</vt:lpstr>
      <vt:lpstr>16. Appel aux émotions</vt:lpstr>
      <vt:lpstr>17. Complot</vt:lpstr>
      <vt:lpstr>18. Appel à la nature</vt:lpstr>
      <vt:lpstr>Présentation PowerPoint</vt:lpstr>
      <vt:lpstr>Les biais cognitifs</vt:lpstr>
      <vt:lpstr>Définition</vt:lpstr>
      <vt:lpstr>Les 7 biais cognitifs</vt:lpstr>
      <vt:lpstr>Les 7 biais</vt:lpstr>
      <vt:lpstr>Biais de confirmation</vt:lpstr>
      <vt:lpstr>Exemple de biais de confirmation</vt:lpstr>
      <vt:lpstr>Présentation PowerPoint</vt:lpstr>
      <vt:lpstr>Comment l’éviter ?</vt:lpstr>
      <vt:lpstr>2. Effet de répétition (effet de vérité illusoire)</vt:lpstr>
      <vt:lpstr>Exemple d’effet de répétition</vt:lpstr>
      <vt:lpstr>Comment l’éviter ?</vt:lpstr>
      <vt:lpstr>3. Biais d’omission</vt:lpstr>
      <vt:lpstr>Exemple de biais d’omission</vt:lpstr>
      <vt:lpstr>Comment l’éviter ?</vt:lpstr>
      <vt:lpstr>4. Biais d’ancrage</vt:lpstr>
      <vt:lpstr>Présentation PowerPoint</vt:lpstr>
      <vt:lpstr>Exemple du biais d’ancrage</vt:lpstr>
      <vt:lpstr>Comment l’éviter ?</vt:lpstr>
      <vt:lpstr>5. Biais de désirabilité sociale ou de conformisme</vt:lpstr>
      <vt:lpstr>Exemple de biais de désirabilité sociale</vt:lpstr>
      <vt:lpstr>Comment l’éviter ?</vt:lpstr>
      <vt:lpstr>6. Biais d’essentialisme</vt:lpstr>
      <vt:lpstr>Comment l’éviter ?</vt:lpstr>
      <vt:lpstr>7. Effet de halo</vt:lpstr>
      <vt:lpstr>Exemple d’effet de halo</vt:lpstr>
      <vt:lpstr>Comment l’éviter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Léonie Asselin</dc:creator>
  <cp:lastModifiedBy>Léonie Asselin</cp:lastModifiedBy>
  <cp:revision>1</cp:revision>
  <dcterms:modified xsi:type="dcterms:W3CDTF">2024-10-15T15:33:57Z</dcterms:modified>
</cp:coreProperties>
</file>