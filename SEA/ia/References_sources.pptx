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embeddedFontLst>
    <p:embeddedFont>
      <p:font typeface="Roboto" panose="02000000000000000000" pitchFamily="2" charset="0"/>
      <p:regular r:id="rId24"/>
      <p:bold r:id="rId25"/>
      <p:italic r:id="rId26"/>
      <p:boldItalic r:id="rId2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11acc7e6c8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11acc7e6c8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11acc7e6c8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11acc7e6c8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11acc7e6c8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11acc7e6c8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11acc7e6c8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11acc7e6c8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181c35798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181c357987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11acc7e6c8_0_1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11acc7e6c8_0_1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11acc7e6c8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11acc7e6c8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1acc7e6c8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1acc7e6c8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11acc7e6c8_0_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11acc7e6c8_0_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g311acc7e6c8_0_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" name="Google Shape;125;g311acc7e6c8_0_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11acc7e6c8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11acc7e6c8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11acc7e6c8_0_9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11acc7e6c8_0_9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g311acc7e6c8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" name="Google Shape;143;g311acc7e6c8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11acc7e6c8_0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11acc7e6c8_0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11acc7e6c8_0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" name="Google Shape;157;g311acc7e6c8_0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11acc7e6c8_0_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11acc7e6c8_0_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1acc7e6c8_0_1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1acc7e6c8_0_1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11acc7e6c8_0_1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11acc7e6c8_0_1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11acc7e6c8_0_17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11acc7e6c8_0_17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g311acc7e6c8_0_1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3" name="Google Shape;193;g311acc7e6c8_0_1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name="adj" fmla="val 16667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rot="10800000" flipH="1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2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rot="10800000" flipH="1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rot="10800000" flipH="1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0" name="Google Shape;40;p7"/>
          <p:cNvSpPr txBox="1">
            <a:spLocks noGrp="1"/>
          </p:cNvSpPr>
          <p:nvPr>
            <p:ph type="body" idx="1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7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" name="Google Shape;48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49" name="Google Shape;49;p9"/>
          <p:cNvSpPr txBox="1">
            <a:spLocks noGrp="1"/>
          </p:cNvSpPr>
          <p:nvPr>
            <p:ph type="subTitle" idx="1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0" name="Google Shape;50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rot="10800000" flipH="1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10"/>
          <p:cNvSpPr/>
          <p:nvPr/>
        </p:nvSpPr>
        <p:spPr>
          <a:xfrm rot="10800000" flipH="1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0"/>
          <p:cNvSpPr txBox="1">
            <a:spLocks noGrp="1"/>
          </p:cNvSpPr>
          <p:nvPr>
            <p:ph type="body" idx="1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accent4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>
            <a:spLocks noGrp="1"/>
          </p:cNvSpPr>
          <p:nvPr>
            <p:ph type="title" hasCustomPrompt="1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>
            <a:spLocks noGrp="1"/>
          </p:cNvSpPr>
          <p:nvPr>
            <p:ph type="body" idx="1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0" name="Google Shape;60;p1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4"/>
        </a:solidFill>
        <a:effectLst/>
      </p:bgPr>
    </p:bg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terial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fr-CA"/>
              <a:t>‹n°›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universalis.fr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create.kahoot.it/share/maitriser-les-sources-et-la-bibliographie/fe939589-9a6f-4a63-89da-b89056ec87f8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thecanadianencyclopedia.ca/fr/article/la-crise-doka-1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4" Type="http://schemas.openxmlformats.org/officeDocument/2006/relationships/hyperlink" Target="https://ici.radio-canada.ca/nouvelle/1718260/crise-oka-warriors-mohawks-kanesatake-kanahwake-autochtones-archives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stoirecanada.ca/consulter/enseignement/comment-enseigner-la-crise-d-oka-kanesatake-de-1990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istoirecanada.ca/consulter/enseignement/comment-enseigner-la-crise-d-oka-kanesatake-de-1990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>
            <a:spLocks noGrp="1"/>
          </p:cNvSpPr>
          <p:nvPr>
            <p:ph type="ctrTitle"/>
          </p:nvPr>
        </p:nvSpPr>
        <p:spPr>
          <a:xfrm>
            <a:off x="308300" y="1758000"/>
            <a:ext cx="3686700" cy="162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Références et sources</a:t>
            </a:r>
            <a:endParaRPr/>
          </a:p>
        </p:txBody>
      </p:sp>
      <p:sp>
        <p:nvSpPr>
          <p:cNvPr id="68" name="Google Shape;68;p13"/>
          <p:cNvSpPr txBox="1">
            <a:spLocks noGrp="1"/>
          </p:cNvSpPr>
          <p:nvPr>
            <p:ph type="subTitle" idx="1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9" name="Google Shape;69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348450"/>
            <a:ext cx="3549050" cy="3549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Les sources</a:t>
            </a:r>
            <a:endParaRPr/>
          </a:p>
        </p:txBody>
      </p:sp>
      <p:sp>
        <p:nvSpPr>
          <p:cNvPr id="75" name="Google Shape;75;p14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CA" sz="2000"/>
              <a:t>Une référence sert à indiquer dans un travail </a:t>
            </a:r>
            <a:r>
              <a:rPr lang="fr-CA" sz="2000">
                <a:highlight>
                  <a:srgbClr val="FFFF00"/>
                </a:highlight>
              </a:rPr>
              <a:t>d’où provient l’information</a:t>
            </a:r>
            <a:r>
              <a:rPr lang="fr-CA" sz="2000"/>
              <a:t> (quelle est la source de l’information?)</a:t>
            </a:r>
            <a:endParaRPr sz="2000"/>
          </a:p>
          <a:p>
            <a:pPr marL="45720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CA" sz="2000"/>
              <a:t>On utilise la référence dès que nous utilisons les propos d’une autre personne (</a:t>
            </a:r>
            <a:r>
              <a:rPr lang="fr-CA" sz="2000">
                <a:highlight>
                  <a:srgbClr val="FFFF00"/>
                </a:highlight>
              </a:rPr>
              <a:t>dès qu’on va chercher de l’information sur internet ou dans des livres</a:t>
            </a:r>
            <a:r>
              <a:rPr lang="fr-CA" sz="2000"/>
              <a:t>). </a:t>
            </a:r>
            <a:endParaRPr sz="20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5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À quoi ça sert ?</a:t>
            </a:r>
            <a:endParaRPr/>
          </a:p>
        </p:txBody>
      </p:sp>
      <p:sp>
        <p:nvSpPr>
          <p:cNvPr id="81" name="Google Shape;81;p15"/>
          <p:cNvSpPr txBox="1">
            <a:spLocks noGrp="1"/>
          </p:cNvSpPr>
          <p:nvPr>
            <p:ph type="body" idx="1"/>
          </p:nvPr>
        </p:nvSpPr>
        <p:spPr>
          <a:xfrm>
            <a:off x="96325" y="1778150"/>
            <a:ext cx="8830800" cy="312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/>
              <a:t>En écrivant les sources, on peut aller vérifier l’information. C’est pour s’assurer que les informations du travail sont vraies.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/>
              <a:t> 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/>
              <a:t>Ça permet aussi au lecteur d’aller chercher de l’information supplémentaire s’il veut en apprendre davantage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/>
              <a:t>Lorsque tu utilises de l’information qui ne vient pas de toi, il est important de préciser d’où elle vient </a:t>
            </a:r>
            <a:r>
              <a:rPr lang="fr-CA" sz="2000">
                <a:highlight>
                  <a:srgbClr val="FFFF00"/>
                </a:highlight>
              </a:rPr>
              <a:t>pour respecter la propriété intellectuelle et pour éviter le plagiat</a:t>
            </a:r>
            <a:endParaRPr sz="2000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Comment vérifier si une source est crédible ?</a:t>
            </a:r>
            <a:endParaRPr/>
          </a:p>
        </p:txBody>
      </p:sp>
      <p:sp>
        <p:nvSpPr>
          <p:cNvPr id="87" name="Google Shape;87;p16"/>
          <p:cNvSpPr txBox="1">
            <a:spLocks noGrp="1"/>
          </p:cNvSpPr>
          <p:nvPr>
            <p:ph type="body" idx="1"/>
          </p:nvPr>
        </p:nvSpPr>
        <p:spPr>
          <a:xfrm>
            <a:off x="119775" y="1836625"/>
            <a:ext cx="8924700" cy="330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Elle doit être 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fr-CA"/>
              <a:t>Objective (neutre)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fr-CA"/>
              <a:t>Scientifique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fr-CA"/>
              <a:t>Venir d’une personne qualifiée (études, recherches, qualifications)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On peut aussi vérifier si :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❏"/>
            </a:pPr>
            <a:r>
              <a:rPr lang="fr-CA"/>
              <a:t>Le site met lui-même ses références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❏"/>
            </a:pPr>
            <a:r>
              <a:rPr lang="fr-CA"/>
              <a:t>Le site a été mis à jour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7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Exemples de sources crédibles</a:t>
            </a:r>
            <a:endParaRPr/>
          </a:p>
        </p:txBody>
      </p:sp>
      <p:sp>
        <p:nvSpPr>
          <p:cNvPr id="93" name="Google Shape;93;p17"/>
          <p:cNvSpPr txBox="1">
            <a:spLocks noGrp="1"/>
          </p:cNvSpPr>
          <p:nvPr>
            <p:ph type="body" idx="1"/>
          </p:nvPr>
        </p:nvSpPr>
        <p:spPr>
          <a:xfrm>
            <a:off x="201975" y="1919075"/>
            <a:ext cx="8736900" cy="30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Des </a:t>
            </a:r>
            <a:r>
              <a:rPr lang="fr-CA" b="1"/>
              <a:t>journaux</a:t>
            </a:r>
            <a:r>
              <a:rPr lang="fr-CA"/>
              <a:t> (LaPresse, Le Soleil, Le Devoir, Le journal de Québec, Le journal de Montréal)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Des </a:t>
            </a:r>
            <a:r>
              <a:rPr lang="fr-CA" b="1"/>
              <a:t>encyclopédies </a:t>
            </a:r>
            <a:r>
              <a:rPr lang="fr-CA"/>
              <a:t>(Encyclopédie canadienne, Britannica, </a:t>
            </a:r>
            <a:r>
              <a:rPr lang="fr-CA">
                <a:uFill>
                  <a:noFill/>
                </a:uFill>
                <a:hlinkClick r:id="rId3"/>
              </a:rPr>
              <a:t>Encyclopædia Universalis</a:t>
            </a:r>
            <a:r>
              <a:rPr lang="fr-CA"/>
              <a:t>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Des </a:t>
            </a:r>
            <a:r>
              <a:rPr lang="fr-CA" b="1"/>
              <a:t>dictionnaires </a:t>
            </a:r>
            <a:r>
              <a:rPr lang="fr-CA"/>
              <a:t>(Larousse, Usito)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/>
              <a:t>Des </a:t>
            </a:r>
            <a:r>
              <a:rPr lang="fr-CA" b="1"/>
              <a:t>sites internet d’informations crédibles</a:t>
            </a:r>
            <a:r>
              <a:rPr lang="fr-CA"/>
              <a:t> (Gouvernement du Québec, Gouvernement du Canada, site de la Ville de Québec)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fr-CA" b="1"/>
              <a:t>Google scholar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8"/>
          <p:cNvSpPr txBox="1"/>
          <p:nvPr/>
        </p:nvSpPr>
        <p:spPr>
          <a:xfrm>
            <a:off x="284175" y="345250"/>
            <a:ext cx="8701800" cy="46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 sz="1500" b="1"/>
              <a:t>Analyse de crédibilité de la source 1</a:t>
            </a:r>
            <a:endParaRPr sz="15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l’information est objective (neutre) ?    	</a:t>
            </a:r>
            <a:r>
              <a:rPr lang="fr-CA" b="1"/>
              <a:t>Oui 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l’information est scientifique, gouvernementale ou académique ?      	</a:t>
            </a:r>
            <a:r>
              <a:rPr lang="fr-CA" b="1"/>
              <a:t>Oui 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c’est une publicité ? Ou est-ce que l’auteur fait la promotion de quelque chose ?	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 b="1"/>
              <a:t>Oui 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Est-il possible de vérifier si l’auteur ou l’organisation ont les qualifications requises? 	  </a:t>
            </a:r>
            <a:r>
              <a:rPr lang="fr-CA" b="1"/>
              <a:t> Oui 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le site propose lui-même d’autres références ?      	</a:t>
            </a:r>
            <a:r>
              <a:rPr lang="fr-CA" b="1"/>
              <a:t>Oui 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le site a été mis à jour récemment ?      	</a:t>
            </a:r>
            <a:r>
              <a:rPr lang="fr-CA" b="1"/>
              <a:t>Oui 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 b="1"/>
              <a:t>Résultat</a:t>
            </a:r>
            <a:r>
              <a:rPr lang="fr-CA"/>
              <a:t> : Le site est crédible        Le site n’est pas crédible  </a:t>
            </a:r>
            <a:r>
              <a:rPr lang="fr-CA" sz="1600"/>
              <a:t>                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 sz="1600"/>
              <a:t>            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>
            <a:spLocks noGrp="1"/>
          </p:cNvSpPr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u="sng">
                <a:solidFill>
                  <a:schemeClr val="hlink"/>
                </a:solidFill>
                <a:hlinkClick r:id="rId3"/>
              </a:rPr>
              <a:t>Kahoot </a:t>
            </a:r>
            <a:r>
              <a:rPr lang="fr-CA"/>
              <a:t>!</a:t>
            </a:r>
            <a:endParaRPr/>
          </a:p>
        </p:txBody>
      </p:sp>
      <p:sp>
        <p:nvSpPr>
          <p:cNvPr id="104" name="Google Shape;104;p19"/>
          <p:cNvSpPr txBox="1"/>
          <p:nvPr/>
        </p:nvSpPr>
        <p:spPr>
          <a:xfrm>
            <a:off x="4229875" y="1179000"/>
            <a:ext cx="4427100" cy="2959200"/>
          </a:xfrm>
          <a:prstGeom prst="rect">
            <a:avLst/>
          </a:prstGeom>
          <a:noFill/>
          <a:ln w="2857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36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Comment faire pour différencier les bonnes sources et les mauvaises sources ?</a:t>
            </a:r>
            <a:endParaRPr sz="36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Quand citer ?</a:t>
            </a:r>
            <a:endParaRPr/>
          </a:p>
        </p:txBody>
      </p:sp>
      <p:sp>
        <p:nvSpPr>
          <p:cNvPr id="110" name="Google Shape;110;p20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301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/>
              <a:t>Il faut citer à deux moments : </a:t>
            </a:r>
            <a:endParaRPr sz="2000"/>
          </a:p>
          <a:p>
            <a:pPr marL="457200" lvl="0" indent="-355600" algn="l" rtl="0">
              <a:spcBef>
                <a:spcPts val="1200"/>
              </a:spcBef>
              <a:spcAft>
                <a:spcPts val="0"/>
              </a:spcAft>
              <a:buSzPts val="2000"/>
              <a:buAutoNum type="arabicPeriod"/>
            </a:pPr>
            <a:r>
              <a:rPr lang="fr-CA" sz="2000" u="sng"/>
              <a:t>Dans le texte</a:t>
            </a:r>
            <a:r>
              <a:rPr lang="fr-CA" sz="2000"/>
              <a:t> (dès qu’on dit l’information recherchée)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AutoNum type="arabicPeriod"/>
            </a:pPr>
            <a:r>
              <a:rPr lang="fr-CA" sz="2000" u="sng"/>
              <a:t>À la fin du texte</a:t>
            </a:r>
            <a:r>
              <a:rPr lang="fr-CA" sz="2000"/>
              <a:t>, dans ce qu’on appelle la </a:t>
            </a:r>
            <a:r>
              <a:rPr lang="fr-CA" sz="2000">
                <a:highlight>
                  <a:srgbClr val="FFFF00"/>
                </a:highlight>
              </a:rPr>
              <a:t>bibliographie</a:t>
            </a:r>
            <a:endParaRPr sz="200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2000">
              <a:highlight>
                <a:srgbClr val="FFFF00"/>
              </a:highlight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CA" sz="2000"/>
              <a:t>La bibliographie sert à mettre l’ensemble des références utilisées dans un travail</a:t>
            </a:r>
            <a:endParaRPr sz="20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7870525" cy="375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Sources dans le texte</a:t>
            </a:r>
            <a:endParaRPr/>
          </a:p>
        </p:txBody>
      </p:sp>
      <p:sp>
        <p:nvSpPr>
          <p:cNvPr id="121" name="Google Shape;121;p22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Lorsqu’on cite dans le texte, on doit écrire :  </a:t>
            </a:r>
            <a:endParaRPr/>
          </a:p>
          <a:p>
            <a:pPr marL="457200" lvl="0" indent="-342900" algn="l" rtl="0">
              <a:spcBef>
                <a:spcPts val="120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Le nom de famille de l’auteur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L’année de publication</a:t>
            </a:r>
            <a:endParaRPr/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fr-CA"/>
              <a:t>La page où nous avons trouvé l’information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CA"/>
              <a:t>Exemple : (Tremblay, 2016, p.50)</a:t>
            </a:r>
            <a:endParaRPr/>
          </a:p>
        </p:txBody>
      </p:sp>
      <p:sp>
        <p:nvSpPr>
          <p:cNvPr id="122" name="Google Shape;122;p22"/>
          <p:cNvSpPr/>
          <p:nvPr/>
        </p:nvSpPr>
        <p:spPr>
          <a:xfrm>
            <a:off x="5944375" y="2165425"/>
            <a:ext cx="3029700" cy="2771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1800">
                <a:latin typeface="Roboto"/>
                <a:ea typeface="Roboto"/>
                <a:cs typeface="Roboto"/>
                <a:sym typeface="Roboto"/>
              </a:rPr>
              <a:t>Puisque c’est votre première fois, vous pouvez seulement mettre un numéro en exposant et entre parenthèses</a:t>
            </a:r>
            <a:r>
              <a:rPr lang="fr-CA" sz="1800" baseline="30000">
                <a:latin typeface="Roboto"/>
                <a:ea typeface="Roboto"/>
                <a:cs typeface="Roboto"/>
                <a:sym typeface="Roboto"/>
              </a:rPr>
              <a:t> (1)</a:t>
            </a:r>
            <a:endParaRPr sz="1800" baseline="300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3"/>
          <p:cNvSpPr txBox="1">
            <a:spLocks noGrp="1"/>
          </p:cNvSpPr>
          <p:nvPr>
            <p:ph type="title"/>
          </p:nvPr>
        </p:nvSpPr>
        <p:spPr>
          <a:xfrm>
            <a:off x="471900" y="421650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Exemple</a:t>
            </a:r>
            <a:endParaRPr/>
          </a:p>
        </p:txBody>
      </p:sp>
      <p:sp>
        <p:nvSpPr>
          <p:cNvPr id="128" name="Google Shape;128;p23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La crise d’Oka est un événement dans l’histoire du Québec qui oppose les Mohawks à la police du Québec, la GRC et l’armée canadienne. L’affrontement a duré un total de 78 jours (De Bruin, 2023).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CA"/>
              <a:t>Encore aujourd’hui, les Mohawks de Kanesatake conservent des opinions très différentes sur la manière dont ils devraient gérer leur territoire (Radio-Canada, 2020)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Ou…</a:t>
            </a:r>
            <a:endParaRPr/>
          </a:p>
        </p:txBody>
      </p:sp>
      <p:sp>
        <p:nvSpPr>
          <p:cNvPr id="134" name="Google Shape;134;p24"/>
          <p:cNvSpPr txBox="1">
            <a:spLocks noGrp="1"/>
          </p:cNvSpPr>
          <p:nvPr>
            <p:ph type="body" idx="1"/>
          </p:nvPr>
        </p:nvSpPr>
        <p:spPr>
          <a:xfrm>
            <a:off x="46095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La crise d’Oka est un événement dans l’histoire du Québec qui oppose les Mohawks à la police du Québec, la GRC et l’armée canadienne. L’affrontement a duré un total de 78 jours </a:t>
            </a:r>
            <a:r>
              <a:rPr lang="fr-CA" baseline="30000"/>
              <a:t>(1)</a:t>
            </a:r>
            <a:r>
              <a:rPr lang="fr-CA"/>
              <a:t>. 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CA"/>
              <a:t>Encore aujourd’hui, les Mohawks de Kanesatake conservent des opinions très différentes sur la manière dont ils devraient gérer leur territoire </a:t>
            </a:r>
            <a:r>
              <a:rPr lang="fr-CA" baseline="30000"/>
              <a:t>(2)</a:t>
            </a:r>
            <a:r>
              <a:rPr lang="fr-CA"/>
              <a:t>.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Google Shape;139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9100" y="3334775"/>
            <a:ext cx="7200900" cy="857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2925" y="885825"/>
            <a:ext cx="8058150" cy="1685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6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Bibliographie de l’exemple</a:t>
            </a:r>
            <a:endParaRPr/>
          </a:p>
        </p:txBody>
      </p:sp>
      <p:sp>
        <p:nvSpPr>
          <p:cNvPr id="146" name="Google Shape;146;p26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30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AutoNum type="arabicPeriod"/>
            </a:pPr>
            <a:r>
              <a:rPr lang="fr-CA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Tabitha de Bruin. La résistance de Kanesatake (la crise d’Oka). Dans </a:t>
            </a:r>
            <a:r>
              <a:rPr lang="fr-CA" i="1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L'Encyclopédie canadienne</a:t>
            </a:r>
            <a:r>
              <a:rPr lang="fr-CA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</a:t>
            </a:r>
            <a:r>
              <a:rPr lang="fr-CA" b="1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fr-CA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 juillet 2013, [</a:t>
            </a:r>
            <a:r>
              <a:rPr lang="fr-CA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https://www.thecanadianencyclopedia.ca/fr/article/la-crise-doka-1</a:t>
            </a:r>
            <a:r>
              <a:rPr lang="fr-CA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>
              <a:solidFill>
                <a:srgbClr val="1313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131313"/>
              </a:buClr>
              <a:buSzPts val="1800"/>
              <a:buFont typeface="Times New Roman"/>
              <a:buAutoNum type="arabicPeriod"/>
            </a:pPr>
            <a:r>
              <a:rPr lang="fr-CA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Radio-Canada. Le 26 septembre 1990 se terminait la crise d’Oka. Dans </a:t>
            </a:r>
            <a:r>
              <a:rPr lang="fr-CA" i="1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Radio-Canada</a:t>
            </a:r>
            <a:r>
              <a:rPr lang="fr-CA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10 juillet 2020, [</a:t>
            </a:r>
            <a:r>
              <a:rPr lang="fr-CA" u="sng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/>
              </a:rPr>
              <a:t>https://ici.radio-canada.ca/nouvelle/1718260/crise-oka-warriors-mohawks-kanesatake-kanahwake-autochtones-archives</a:t>
            </a:r>
            <a:r>
              <a:rPr lang="fr-CA">
                <a:solidFill>
                  <a:srgbClr val="131313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]</a:t>
            </a:r>
            <a:endParaRPr sz="3600" b="1">
              <a:solidFill>
                <a:srgbClr val="131313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131313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>
            <a:spLocks noGrp="1"/>
          </p:cNvSpPr>
          <p:nvPr>
            <p:ph type="title"/>
          </p:nvPr>
        </p:nvSpPr>
        <p:spPr>
          <a:xfrm>
            <a:off x="471900" y="216075"/>
            <a:ext cx="8222100" cy="1290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Selon vous, est-ce que c’étaient de bonnes sources?</a:t>
            </a:r>
            <a:endParaRPr/>
          </a:p>
        </p:txBody>
      </p:sp>
      <p:sp>
        <p:nvSpPr>
          <p:cNvPr id="152" name="Google Shape;152;p27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/>
          </a:p>
        </p:txBody>
      </p:sp>
      <p:pic>
        <p:nvPicPr>
          <p:cNvPr id="153" name="Google Shape;153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731171"/>
            <a:ext cx="6158132" cy="2533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54" name="Google Shape;154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54097" y="1115075"/>
            <a:ext cx="3266975" cy="3902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8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Rédiger une bibliographie</a:t>
            </a:r>
            <a:endParaRPr/>
          </a:p>
        </p:txBody>
      </p:sp>
      <p:sp>
        <p:nvSpPr>
          <p:cNvPr id="160" name="Google Shape;160;p28"/>
          <p:cNvSpPr txBox="1">
            <a:spLocks noGrp="1"/>
          </p:cNvSpPr>
          <p:nvPr>
            <p:ph type="body" idx="1"/>
          </p:nvPr>
        </p:nvSpPr>
        <p:spPr>
          <a:xfrm>
            <a:off x="143275" y="1919075"/>
            <a:ext cx="8807400" cy="3076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/>
              <a:t>On ne fait pas sa bibliographie comme on veut, il y a une marche à suivre (comme un livre de recettes)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/>
              <a:t>Chaque établissement scolaire peut avoir ses propres règles par rapport à la bibliographie, il faut donc consulter les directives de l’école</a:t>
            </a: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0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sz="2000"/>
              <a:t>Ici à l’ESLE, il n’y a pas de règles précises à ce sujet, on doit donc suivre la procédure des enseignants</a:t>
            </a:r>
            <a:endParaRPr sz="2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9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Procédures pour la bibliographie</a:t>
            </a:r>
            <a:endParaRPr/>
          </a:p>
        </p:txBody>
      </p:sp>
      <p:sp>
        <p:nvSpPr>
          <p:cNvPr id="166" name="Google Shape;166;p29"/>
          <p:cNvSpPr txBox="1">
            <a:spLocks noGrp="1"/>
          </p:cNvSpPr>
          <p:nvPr>
            <p:ph type="body" idx="1"/>
          </p:nvPr>
        </p:nvSpPr>
        <p:spPr>
          <a:xfrm>
            <a:off x="166750" y="1919075"/>
            <a:ext cx="8736900" cy="28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 u="sng">
                <a:solidFill>
                  <a:srgbClr val="131313"/>
                </a:solidFill>
              </a:rPr>
              <a:t>Pour un article sur internet, un article de journal, une encyclopédie, etc.</a:t>
            </a:r>
            <a:endParaRPr u="sng">
              <a:solidFill>
                <a:srgbClr val="13131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u="sng">
              <a:solidFill>
                <a:srgbClr val="131313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fr-CA" sz="2000">
                <a:solidFill>
                  <a:srgbClr val="000000"/>
                </a:solidFill>
              </a:rPr>
              <a:t>Prénom et nom de l’auteur. Nom de la page. Dans </a:t>
            </a:r>
            <a:r>
              <a:rPr lang="fr-CA" sz="2000" i="1">
                <a:solidFill>
                  <a:srgbClr val="000000"/>
                </a:solidFill>
              </a:rPr>
              <a:t>Nom du site</a:t>
            </a:r>
            <a:r>
              <a:rPr lang="fr-CA" sz="2000">
                <a:solidFill>
                  <a:srgbClr val="000000"/>
                </a:solidFill>
              </a:rPr>
              <a:t>, date de publication, [URL du site internet].</a:t>
            </a:r>
            <a:endParaRPr sz="2000"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167" name="Google Shape;167;p29"/>
          <p:cNvSpPr/>
          <p:nvPr/>
        </p:nvSpPr>
        <p:spPr>
          <a:xfrm>
            <a:off x="3196500" y="3093125"/>
            <a:ext cx="223200" cy="199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8" name="Google Shape;168;p29"/>
          <p:cNvSpPr/>
          <p:nvPr/>
        </p:nvSpPr>
        <p:spPr>
          <a:xfrm>
            <a:off x="5063400" y="3093125"/>
            <a:ext cx="223200" cy="199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69" name="Google Shape;169;p29"/>
          <p:cNvSpPr/>
          <p:nvPr/>
        </p:nvSpPr>
        <p:spPr>
          <a:xfrm>
            <a:off x="7153425" y="3093125"/>
            <a:ext cx="223200" cy="199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0" name="Google Shape;170;p29"/>
          <p:cNvSpPr/>
          <p:nvPr/>
        </p:nvSpPr>
        <p:spPr>
          <a:xfrm>
            <a:off x="1422500" y="3456375"/>
            <a:ext cx="223200" cy="199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1" name="Google Shape;171;p29"/>
          <p:cNvSpPr/>
          <p:nvPr/>
        </p:nvSpPr>
        <p:spPr>
          <a:xfrm>
            <a:off x="3876550" y="3456375"/>
            <a:ext cx="223200" cy="199800"/>
          </a:xfrm>
          <a:prstGeom prst="ellipse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72" name="Google Shape;172;p29"/>
          <p:cNvSpPr/>
          <p:nvPr/>
        </p:nvSpPr>
        <p:spPr>
          <a:xfrm>
            <a:off x="6378875" y="3304525"/>
            <a:ext cx="234900" cy="7515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Que faire si…?</a:t>
            </a:r>
            <a:endParaRPr/>
          </a:p>
        </p:txBody>
      </p:sp>
      <p:sp>
        <p:nvSpPr>
          <p:cNvPr id="178" name="Google Shape;178;p30"/>
          <p:cNvSpPr txBox="1">
            <a:spLocks noGrp="1"/>
          </p:cNvSpPr>
          <p:nvPr>
            <p:ph type="body" idx="1"/>
          </p:nvPr>
        </p:nvSpPr>
        <p:spPr>
          <a:xfrm>
            <a:off x="155000" y="1919075"/>
            <a:ext cx="8784000" cy="302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fr-CA" sz="2000" b="1"/>
              <a:t>Je ne trouve pas le nom de l’auteur</a:t>
            </a:r>
            <a:r>
              <a:rPr lang="fr-CA" sz="2000"/>
              <a:t> → Met le nom du site internet ou de l’organisation (ex : Radio-Canada, Wikipédia)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fr-CA" sz="2000" b="1"/>
              <a:t>Je ne trouve pas la date</a:t>
            </a:r>
            <a:r>
              <a:rPr lang="fr-CA" sz="2000"/>
              <a:t> → Tu peux écrire l’abréviation (s.d.) qui veut dire « sans date »</a:t>
            </a:r>
            <a:endParaRPr sz="2000"/>
          </a:p>
          <a:p>
            <a:pPr marL="457200" lvl="0" indent="-355600" algn="l" rtl="0">
              <a:spcBef>
                <a:spcPts val="0"/>
              </a:spcBef>
              <a:spcAft>
                <a:spcPts val="0"/>
              </a:spcAft>
              <a:buSzPts val="2000"/>
              <a:buChar char="-"/>
            </a:pPr>
            <a:r>
              <a:rPr lang="fr-CA" sz="2000" b="1"/>
              <a:t>Il y a deux noms pour la page du site internet</a:t>
            </a:r>
            <a:r>
              <a:rPr lang="fr-CA" sz="2000"/>
              <a:t> → Séparer les deux noms par un deux-points (:)</a:t>
            </a:r>
            <a:endParaRPr sz="200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fr-CA" sz="2000"/>
              <a:t>Exemple → La crise d’Oka : le bilan 30 ans plus tard</a:t>
            </a:r>
            <a:endParaRPr sz="20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1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Exemples de rédaction et d’évaluation de sources</a:t>
            </a:r>
            <a:endParaRPr/>
          </a:p>
        </p:txBody>
      </p:sp>
      <p:sp>
        <p:nvSpPr>
          <p:cNvPr id="184" name="Google Shape;184;p31"/>
          <p:cNvSpPr txBox="1">
            <a:spLocks noGrp="1"/>
          </p:cNvSpPr>
          <p:nvPr>
            <p:ph type="body" idx="1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fr-CA" u="sng">
                <a:solidFill>
                  <a:schemeClr val="hlink"/>
                </a:solidFill>
                <a:hlinkClick r:id="rId3"/>
              </a:rPr>
              <a:t>https://www.histoirecanada.ca/consulter/enseignement/comment-enseigner-la-crise-d-oka-kanesatake-de-1990</a:t>
            </a:r>
            <a:r>
              <a:rPr lang="fr-CA"/>
              <a:t> 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>
            <a:spLocks noGrp="1"/>
          </p:cNvSpPr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/>
              <a:t>Référence</a:t>
            </a:r>
            <a:endParaRPr/>
          </a:p>
        </p:txBody>
      </p:sp>
      <p:sp>
        <p:nvSpPr>
          <p:cNvPr id="190" name="Google Shape;190;p32"/>
          <p:cNvSpPr txBox="1">
            <a:spLocks noGrp="1"/>
          </p:cNvSpPr>
          <p:nvPr>
            <p:ph type="body" idx="1"/>
          </p:nvPr>
        </p:nvSpPr>
        <p:spPr>
          <a:xfrm>
            <a:off x="460950" y="1930825"/>
            <a:ext cx="8222100" cy="271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fr-CA">
                <a:solidFill>
                  <a:srgbClr val="666666"/>
                </a:solidFill>
              </a:rPr>
              <a:t>Pierre Trudel. Comment enseigner la crise d’Oka/Kanesatake de 1990. Dans Histoire Canada, 21 octobre 2020, [</a:t>
            </a:r>
            <a:r>
              <a:rPr lang="fr-CA" u="sng">
                <a:solidFill>
                  <a:schemeClr val="hlink"/>
                </a:solidFill>
                <a:hlinkClick r:id="rId3"/>
              </a:rPr>
              <a:t>https://www.histoirecanada.ca/consulter/enseignement/comment-enseigner-la-crise-d-oka-kanesatake-de-1990</a:t>
            </a:r>
            <a:r>
              <a:rPr lang="fr-CA">
                <a:solidFill>
                  <a:srgbClr val="666666"/>
                </a:solidFill>
              </a:rPr>
              <a:t>].</a:t>
            </a: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>
              <a:solidFill>
                <a:srgbClr val="666666"/>
              </a:solidFill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33"/>
          <p:cNvSpPr txBox="1"/>
          <p:nvPr/>
        </p:nvSpPr>
        <p:spPr>
          <a:xfrm>
            <a:off x="284175" y="345250"/>
            <a:ext cx="8701800" cy="4662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 sz="1500" b="1"/>
              <a:t>Analyse de crédibilité de la source 1</a:t>
            </a:r>
            <a:endParaRPr sz="1500"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l’information est objective (neutre) ?    	</a:t>
            </a:r>
            <a:r>
              <a:rPr lang="fr-CA" b="1">
                <a:highlight>
                  <a:srgbClr val="00FF00"/>
                </a:highlight>
              </a:rPr>
              <a:t>Oui </a:t>
            </a:r>
            <a:r>
              <a:rPr lang="fr-CA" b="1"/>
              <a:t>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l’information est scientifique, gouvernementale ou académique ?      	</a:t>
            </a:r>
            <a:r>
              <a:rPr lang="fr-CA" b="1">
                <a:highlight>
                  <a:srgbClr val="00FF00"/>
                </a:highlight>
              </a:rPr>
              <a:t>Oui </a:t>
            </a:r>
            <a:r>
              <a:rPr lang="fr-CA" b="1"/>
              <a:t>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c’est une publicité ? Ou est-ce que l’auteur fait la promotion de quelque chose ?	</a:t>
            </a:r>
            <a:endParaRPr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 b="1"/>
              <a:t>Oui      </a:t>
            </a:r>
            <a:r>
              <a:rPr lang="fr-CA" b="1">
                <a:highlight>
                  <a:srgbClr val="00FF00"/>
                </a:highlight>
              </a:rPr>
              <a:t>Non</a:t>
            </a:r>
            <a:endParaRPr b="1">
              <a:highlight>
                <a:srgbClr val="00FF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Est-il possible de vérifier si l’auteur ou l’organisation ont les qualifications requises? 	  </a:t>
            </a:r>
            <a:r>
              <a:rPr lang="fr-CA" b="1"/>
              <a:t> </a:t>
            </a:r>
            <a:r>
              <a:rPr lang="fr-CA" b="1">
                <a:highlight>
                  <a:srgbClr val="00FF00"/>
                </a:highlight>
              </a:rPr>
              <a:t>Oui </a:t>
            </a:r>
            <a:r>
              <a:rPr lang="fr-CA" b="1"/>
              <a:t>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le site propose lui-même d’autres références ?      	</a:t>
            </a:r>
            <a:r>
              <a:rPr lang="fr-CA" b="1">
                <a:highlight>
                  <a:srgbClr val="00FF00"/>
                </a:highlight>
              </a:rPr>
              <a:t>Oui </a:t>
            </a:r>
            <a:r>
              <a:rPr lang="fr-CA" b="1"/>
              <a:t>     Non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/>
              <a:t>Est-ce que le site a été mis à jour récemment ?      	</a:t>
            </a:r>
            <a:r>
              <a:rPr lang="fr-CA" b="1"/>
              <a:t>Oui      </a:t>
            </a:r>
            <a:r>
              <a:rPr lang="fr-CA" b="1">
                <a:highlight>
                  <a:srgbClr val="FF0000"/>
                </a:highlight>
              </a:rPr>
              <a:t>Non</a:t>
            </a:r>
            <a:endParaRPr b="1">
              <a:highlight>
                <a:srgbClr val="FF0000"/>
              </a:highlight>
            </a:endParaRPr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 b="1"/>
              <a:t>Résultat</a:t>
            </a:r>
            <a:r>
              <a:rPr lang="fr-CA"/>
              <a:t> : </a:t>
            </a:r>
            <a:r>
              <a:rPr lang="fr-CA">
                <a:highlight>
                  <a:srgbClr val="00FF00"/>
                </a:highlight>
              </a:rPr>
              <a:t>Le site est crédible  </a:t>
            </a:r>
            <a:r>
              <a:rPr lang="fr-CA"/>
              <a:t>      Le site n’est pas crédible  </a:t>
            </a:r>
            <a:r>
              <a:rPr lang="fr-CA" sz="1600"/>
              <a:t>                </a:t>
            </a:r>
            <a:endParaRPr sz="1600"/>
          </a:p>
          <a:p>
            <a:pPr marL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fr-CA" sz="1600"/>
              <a:t>            </a:t>
            </a:r>
            <a:endParaRPr sz="1600"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endParaRPr sz="1800">
              <a:solidFill>
                <a:schemeClr val="lt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1A237E"/>
      </a:accent5>
      <a:accent6>
        <a:srgbClr val="F4B400"/>
      </a:accent6>
      <a:hlink>
        <a:srgbClr val="1A237E"/>
      </a:hlink>
      <a:folHlink>
        <a:srgbClr val="1A237E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1042</Words>
  <Application>Microsoft Office PowerPoint</Application>
  <PresentationFormat>Affichage à l'écran (16:9)</PresentationFormat>
  <Paragraphs>90</Paragraphs>
  <Slides>21</Slides>
  <Notes>21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21</vt:i4>
      </vt:variant>
    </vt:vector>
  </HeadingPairs>
  <TitlesOfParts>
    <vt:vector size="25" baseType="lpstr">
      <vt:lpstr>Roboto</vt:lpstr>
      <vt:lpstr>Times New Roman</vt:lpstr>
      <vt:lpstr>Arial</vt:lpstr>
      <vt:lpstr>Material</vt:lpstr>
      <vt:lpstr>Références et sources</vt:lpstr>
      <vt:lpstr>Les sources</vt:lpstr>
      <vt:lpstr>À quoi ça sert ?</vt:lpstr>
      <vt:lpstr>Comment vérifier si une source est crédible ?</vt:lpstr>
      <vt:lpstr>Exemples de sources crédibles</vt:lpstr>
      <vt:lpstr>Présentation PowerPoint</vt:lpstr>
      <vt:lpstr>Kahoot !</vt:lpstr>
      <vt:lpstr>Quand citer ?</vt:lpstr>
      <vt:lpstr>Présentation PowerPoint</vt:lpstr>
      <vt:lpstr>Sources dans le texte</vt:lpstr>
      <vt:lpstr>Exemple</vt:lpstr>
      <vt:lpstr>Ou…</vt:lpstr>
      <vt:lpstr>Présentation PowerPoint</vt:lpstr>
      <vt:lpstr>Bibliographie de l’exemple</vt:lpstr>
      <vt:lpstr>Selon vous, est-ce que c’étaient de bonnes sources?</vt:lpstr>
      <vt:lpstr>Rédiger une bibliographie</vt:lpstr>
      <vt:lpstr>Procédures pour la bibliographie</vt:lpstr>
      <vt:lpstr>Que faire si…?</vt:lpstr>
      <vt:lpstr>Exemples de rédaction et d’évaluation de sources</vt:lpstr>
      <vt:lpstr>Référence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Léonie Asselin</dc:creator>
  <cp:lastModifiedBy>Léonie Asselin</cp:lastModifiedBy>
  <cp:revision>1</cp:revision>
  <dcterms:modified xsi:type="dcterms:W3CDTF">2024-11-25T15:58:21Z</dcterms:modified>
</cp:coreProperties>
</file>